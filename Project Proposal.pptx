
<file path=[Content_Types].xml><?xml version="1.0" encoding="utf-8"?>
<Types xmlns="http://schemas.openxmlformats.org/package/2006/content-types">
  <Default Extension="xml" ContentType="application/xml"/>
  <Default Extension="jpg" ContentType="image/jpeg"/>
  <Default Extension="svg" ContentType="image/svg+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slides/slide11.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15"/>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18288000" cy="10287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74" d="100"/>
          <a:sy n="74" d="100"/>
        </p:scale>
        <p:origin x="-1092" y="-90"/>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notesMaster" Target="notesMasters/notesMaster1.xml"/><Relationship Id="rId16" Type="http://schemas.openxmlformats.org/officeDocument/2006/relationships/presProps" Target="presProps.xml" /><Relationship Id="rId17" Type="http://schemas.openxmlformats.org/officeDocument/2006/relationships/tableStyles" Target="tableStyles.xml" /><Relationship Id="rId18"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A9EC62B-B8AA-D77A-1813-A160DD3125C5}"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58342BF-C589-5783-41DE-5CA6F3EBBAB2}"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0847B78-2D32-D25F-8033-857DC36E9F7A}"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9B6AC64-F60C-62B6-6CDA-B314B05BB517}"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AFFDDC1-091A-940F-418E-B16E82A647FC}"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39BB1F6-1FE5-B750-A4A3-B2C75BE4357A}"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1063E47-77EF-A1B2-9B60-86F7770DFB65}"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0E85AFF-B332-C4F0-E7B9-4D51DF232109}"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7119474-40CA-7EFA-8AB8-60BCADCE9F95}"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92A2D69-F7E2-4D7C-1B60-F0D73A53EDC2}"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BF9A7F9-354B-84B3-4ED4-BB4D4C72CB19}"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909913473"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91313339"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614017853"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443880917" name="Footer Placeholder 4"/>
          <p:cNvSpPr>
            <a:spLocks noGrp="1"/>
          </p:cNvSpPr>
          <p:nvPr>
            <p:ph type="ftr" sz="quarter" idx="11"/>
          </p:nvPr>
        </p:nvSpPr>
        <p:spPr bwMode="auto"/>
        <p:txBody>
          <a:bodyPr/>
          <a:lstStyle/>
          <a:p>
            <a:pPr>
              <a:defRPr/>
            </a:pPr>
            <a:endParaRPr lang="en-US"/>
          </a:p>
        </p:txBody>
      </p:sp>
      <p:sp>
        <p:nvSpPr>
          <p:cNvPr id="34060134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213784651" name="Title 1"/>
          <p:cNvSpPr>
            <a:spLocks noGrp="1"/>
          </p:cNvSpPr>
          <p:nvPr>
            <p:ph type="title"/>
          </p:nvPr>
        </p:nvSpPr>
        <p:spPr bwMode="auto"/>
        <p:txBody>
          <a:bodyPr/>
          <a:lstStyle/>
          <a:p>
            <a:pPr>
              <a:defRPr/>
            </a:pPr>
            <a:r>
              <a:rPr lang="en-US"/>
              <a:t>Click to edit Master title style</a:t>
            </a:r>
            <a:endParaRPr lang="en-US"/>
          </a:p>
        </p:txBody>
      </p:sp>
      <p:sp>
        <p:nvSpPr>
          <p:cNvPr id="1861253919"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34753416"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287235426" name="Footer Placeholder 4"/>
          <p:cNvSpPr>
            <a:spLocks noGrp="1"/>
          </p:cNvSpPr>
          <p:nvPr>
            <p:ph type="ftr" sz="quarter" idx="11"/>
          </p:nvPr>
        </p:nvSpPr>
        <p:spPr bwMode="auto"/>
        <p:txBody>
          <a:bodyPr/>
          <a:lstStyle/>
          <a:p>
            <a:pPr>
              <a:defRPr/>
            </a:pPr>
            <a:endParaRPr lang="en-US"/>
          </a:p>
        </p:txBody>
      </p:sp>
      <p:sp>
        <p:nvSpPr>
          <p:cNvPr id="319111194"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314822169"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396088058"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549902748"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050991981" name="Footer Placeholder 4"/>
          <p:cNvSpPr>
            <a:spLocks noGrp="1"/>
          </p:cNvSpPr>
          <p:nvPr>
            <p:ph type="ftr" sz="quarter" idx="11"/>
          </p:nvPr>
        </p:nvSpPr>
        <p:spPr bwMode="auto"/>
        <p:txBody>
          <a:bodyPr/>
          <a:lstStyle/>
          <a:p>
            <a:pPr>
              <a:defRPr/>
            </a:pPr>
            <a:endParaRPr lang="en-US"/>
          </a:p>
        </p:txBody>
      </p:sp>
      <p:sp>
        <p:nvSpPr>
          <p:cNvPr id="51206489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685983653" name="Title 1"/>
          <p:cNvSpPr>
            <a:spLocks noGrp="1"/>
          </p:cNvSpPr>
          <p:nvPr>
            <p:ph type="title"/>
          </p:nvPr>
        </p:nvSpPr>
        <p:spPr bwMode="auto"/>
        <p:txBody>
          <a:bodyPr/>
          <a:lstStyle/>
          <a:p>
            <a:pPr>
              <a:defRPr/>
            </a:pPr>
            <a:r>
              <a:rPr lang="en-US"/>
              <a:t>Click to edit Master title style</a:t>
            </a:r>
            <a:endParaRPr lang="en-US"/>
          </a:p>
        </p:txBody>
      </p:sp>
      <p:sp>
        <p:nvSpPr>
          <p:cNvPr id="1849293538"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88592997"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05236864"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469768725" name="Footer Placeholder 5"/>
          <p:cNvSpPr>
            <a:spLocks noGrp="1"/>
          </p:cNvSpPr>
          <p:nvPr>
            <p:ph type="ftr" sz="quarter" idx="11"/>
          </p:nvPr>
        </p:nvSpPr>
        <p:spPr bwMode="auto"/>
        <p:txBody>
          <a:bodyPr/>
          <a:lstStyle/>
          <a:p>
            <a:pPr>
              <a:defRPr/>
            </a:pPr>
            <a:endParaRPr lang="en-US"/>
          </a:p>
        </p:txBody>
      </p:sp>
      <p:sp>
        <p:nvSpPr>
          <p:cNvPr id="1300863362"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317849702"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226832334"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337987162"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87081926"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248146546"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86678298" name="Date Placeholder 6"/>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695149579" name="Footer Placeholder 7"/>
          <p:cNvSpPr>
            <a:spLocks noGrp="1"/>
          </p:cNvSpPr>
          <p:nvPr>
            <p:ph type="ftr" sz="quarter" idx="11"/>
          </p:nvPr>
        </p:nvSpPr>
        <p:spPr bwMode="auto"/>
        <p:txBody>
          <a:bodyPr/>
          <a:lstStyle/>
          <a:p>
            <a:pPr>
              <a:defRPr/>
            </a:pPr>
            <a:endParaRPr lang="en-US"/>
          </a:p>
        </p:txBody>
      </p:sp>
      <p:sp>
        <p:nvSpPr>
          <p:cNvPr id="573157774"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034650598" name="Title 1"/>
          <p:cNvSpPr>
            <a:spLocks noGrp="1"/>
          </p:cNvSpPr>
          <p:nvPr>
            <p:ph type="title"/>
          </p:nvPr>
        </p:nvSpPr>
        <p:spPr bwMode="auto"/>
        <p:txBody>
          <a:bodyPr/>
          <a:lstStyle/>
          <a:p>
            <a:pPr>
              <a:defRPr/>
            </a:pPr>
            <a:r>
              <a:rPr lang="en-US"/>
              <a:t>Click to edit Master title style</a:t>
            </a:r>
            <a:endParaRPr lang="en-US"/>
          </a:p>
        </p:txBody>
      </p:sp>
      <p:sp>
        <p:nvSpPr>
          <p:cNvPr id="1443783485" name="Date Placeholder 2"/>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660017669" name="Footer Placeholder 3"/>
          <p:cNvSpPr>
            <a:spLocks noGrp="1"/>
          </p:cNvSpPr>
          <p:nvPr>
            <p:ph type="ftr" sz="quarter" idx="11"/>
          </p:nvPr>
        </p:nvSpPr>
        <p:spPr bwMode="auto"/>
        <p:txBody>
          <a:bodyPr/>
          <a:lstStyle/>
          <a:p>
            <a:pPr>
              <a:defRPr/>
            </a:pPr>
            <a:endParaRPr lang="en-US"/>
          </a:p>
        </p:txBody>
      </p:sp>
      <p:sp>
        <p:nvSpPr>
          <p:cNvPr id="216313078"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58275246" name="Date Placeholder 1"/>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418887792" name="Footer Placeholder 2"/>
          <p:cNvSpPr>
            <a:spLocks noGrp="1"/>
          </p:cNvSpPr>
          <p:nvPr>
            <p:ph type="ftr" sz="quarter" idx="11"/>
          </p:nvPr>
        </p:nvSpPr>
        <p:spPr bwMode="auto"/>
        <p:txBody>
          <a:bodyPr/>
          <a:lstStyle/>
          <a:p>
            <a:pPr>
              <a:defRPr/>
            </a:pPr>
            <a:endParaRPr lang="en-US"/>
          </a:p>
        </p:txBody>
      </p:sp>
      <p:sp>
        <p:nvSpPr>
          <p:cNvPr id="126604665"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022696480"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98590779"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92123061"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949325447"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758275487" name="Footer Placeholder 5"/>
          <p:cNvSpPr>
            <a:spLocks noGrp="1"/>
          </p:cNvSpPr>
          <p:nvPr>
            <p:ph type="ftr" sz="quarter" idx="11"/>
          </p:nvPr>
        </p:nvSpPr>
        <p:spPr bwMode="auto"/>
        <p:txBody>
          <a:bodyPr/>
          <a:lstStyle/>
          <a:p>
            <a:pPr>
              <a:defRPr/>
            </a:pPr>
            <a:endParaRPr lang="en-US"/>
          </a:p>
        </p:txBody>
      </p:sp>
      <p:sp>
        <p:nvSpPr>
          <p:cNvPr id="2043914173"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031697684"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847647582"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962629168"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788514270"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961216862" name="Footer Placeholder 5"/>
          <p:cNvSpPr>
            <a:spLocks noGrp="1"/>
          </p:cNvSpPr>
          <p:nvPr>
            <p:ph type="ftr" sz="quarter" idx="11"/>
          </p:nvPr>
        </p:nvSpPr>
        <p:spPr bwMode="auto"/>
        <p:txBody>
          <a:bodyPr/>
          <a:lstStyle/>
          <a:p>
            <a:pPr>
              <a:defRPr/>
            </a:pPr>
            <a:endParaRPr lang="en-US"/>
          </a:p>
        </p:txBody>
      </p:sp>
      <p:sp>
        <p:nvSpPr>
          <p:cNvPr id="1141211511"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975268605" name="Title 1"/>
          <p:cNvSpPr>
            <a:spLocks noGrp="1"/>
          </p:cNvSpPr>
          <p:nvPr>
            <p:ph type="title"/>
          </p:nvPr>
        </p:nvSpPr>
        <p:spPr bwMode="auto"/>
        <p:txBody>
          <a:bodyPr/>
          <a:lstStyle/>
          <a:p>
            <a:pPr>
              <a:defRPr/>
            </a:pPr>
            <a:r>
              <a:rPr lang="en-US"/>
              <a:t>Click to edit Master title style</a:t>
            </a:r>
            <a:endParaRPr lang="en-US"/>
          </a:p>
        </p:txBody>
      </p:sp>
      <p:sp>
        <p:nvSpPr>
          <p:cNvPr id="489431792"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27018790"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2109771037" name="Footer Placeholder 4"/>
          <p:cNvSpPr>
            <a:spLocks noGrp="1"/>
          </p:cNvSpPr>
          <p:nvPr>
            <p:ph type="ftr" sz="quarter" idx="11"/>
          </p:nvPr>
        </p:nvSpPr>
        <p:spPr bwMode="auto"/>
        <p:txBody>
          <a:bodyPr/>
          <a:lstStyle/>
          <a:p>
            <a:pPr>
              <a:defRPr/>
            </a:pPr>
            <a:endParaRPr lang="en-US"/>
          </a:p>
        </p:txBody>
      </p:sp>
      <p:sp>
        <p:nvSpPr>
          <p:cNvPr id="1876926565"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212283062"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504700894"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62383050"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012583496" name="Footer Placeholder 4"/>
          <p:cNvSpPr>
            <a:spLocks noGrp="1"/>
          </p:cNvSpPr>
          <p:nvPr>
            <p:ph type="ftr" sz="quarter" idx="11"/>
          </p:nvPr>
        </p:nvSpPr>
        <p:spPr bwMode="auto"/>
        <p:txBody>
          <a:bodyPr/>
          <a:lstStyle/>
          <a:p>
            <a:pPr>
              <a:defRPr/>
            </a:pPr>
            <a:endParaRPr lang="en-US"/>
          </a:p>
        </p:txBody>
      </p:sp>
      <p:sp>
        <p:nvSpPr>
          <p:cNvPr id="123384774"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500211874"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829630855"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2933350"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8/1/2011</a:t>
            </a:fld>
            <a:endParaRPr lang="en-US"/>
          </a:p>
        </p:txBody>
      </p:sp>
      <p:sp>
        <p:nvSpPr>
          <p:cNvPr id="1558618921"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802810893"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media1.svg"/><Relationship Id="rId6" Type="http://schemas.openxmlformats.org/officeDocument/2006/relationships/image" Target="../media/image3.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media2.svg"/><Relationship Id="rId6" Type="http://schemas.openxmlformats.org/officeDocument/2006/relationships/image" Target="../media/image6.png"/><Relationship Id="rId7" Type="http://schemas.openxmlformats.org/officeDocument/2006/relationships/image" Target="../media/media3.sv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7.png"/><Relationship Id="rId5" Type="http://schemas.openxmlformats.org/officeDocument/2006/relationships/image" Target="../media/image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6.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14.png"/><Relationship Id="rId5" Type="http://schemas.openxmlformats.org/officeDocument/2006/relationships/image" Target="../media/image6.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5.png"/><Relationship Id="rId6" Type="http://schemas.openxmlformats.org/officeDocument/2006/relationships/image" Target="../media/image6.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18.png"/><Relationship Id="rId6" Type="http://schemas.openxmlformats.org/officeDocument/2006/relationships/image" Target="../media/image6.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6.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6.png"/><Relationship Id="rId5"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3557257" name="Freeform 2"/>
          <p:cNvSpPr/>
          <p:nvPr/>
        </p:nvSpPr>
        <p:spPr bwMode="auto">
          <a:xfrm rot="0" flipH="0" flipV="0">
            <a:off x="0" y="0"/>
            <a:ext cx="18288000" cy="10287000"/>
          </a:xfrm>
          <a:custGeom>
            <a:avLst/>
            <a:gdLst/>
            <a:ahLst/>
            <a:cxnLst/>
            <a:rect l="l" t="t" r="r" b="b"/>
            <a:pathLst>
              <a:path w="18288000" h="10287000" fill="norm" stroke="1" extrusionOk="0">
                <a:moveTo>
                  <a:pt x="0" y="0"/>
                </a:moveTo>
                <a:lnTo>
                  <a:pt x="18288000" y="0"/>
                </a:lnTo>
                <a:lnTo>
                  <a:pt x="18288000" y="10287000"/>
                </a:lnTo>
                <a:lnTo>
                  <a:pt x="0" y="10287000"/>
                </a:lnTo>
                <a:lnTo>
                  <a:pt x="0" y="0"/>
                </a:lnTo>
                <a:close/>
              </a:path>
            </a:pathLst>
          </a:custGeom>
          <a:blipFill rotWithShape="1">
            <a:blip r:embed="rId3"/>
            <a:stretch>
              <a:fillRect l="0" t="-666" r="0" b="-665"/>
            </a:stretch>
          </a:blipFill>
        </p:spPr>
      </p:sp>
      <p:sp>
        <p:nvSpPr>
          <p:cNvPr id="1671956990" name="Freeform 3"/>
          <p:cNvSpPr/>
          <p:nvPr/>
        </p:nvSpPr>
        <p:spPr bwMode="auto">
          <a:xfrm rot="0" flipH="0" flipV="0">
            <a:off x="8338296" y="1028700"/>
            <a:ext cx="1611408" cy="1669132"/>
          </a:xfrm>
          <a:custGeom>
            <a:avLst/>
            <a:gdLst/>
            <a:ahLst/>
            <a:cxnLst/>
            <a:rect l="l" t="t" r="r" b="b"/>
            <a:pathLst>
              <a:path w="1611408" h="1669132" fill="norm" stroke="1" extrusionOk="0">
                <a:moveTo>
                  <a:pt x="0" y="0"/>
                </a:moveTo>
                <a:lnTo>
                  <a:pt x="1611408" y="0"/>
                </a:lnTo>
                <a:lnTo>
                  <a:pt x="1611408" y="1669132"/>
                </a:lnTo>
                <a:lnTo>
                  <a:pt x="0" y="1669132"/>
                </a:lnTo>
                <a:lnTo>
                  <a:pt x="0" y="0"/>
                </a:lnTo>
                <a:close/>
              </a:path>
            </a:pathLst>
          </a:custGeom>
          <a:blipFill rotWithShape="1">
            <a:blip r:embed="rId4"/>
            <a:stretch>
              <a:fillRect l="0" t="0" r="0" b="0"/>
            </a:stretch>
          </a:blipFill>
        </p:spPr>
      </p:sp>
      <p:sp>
        <p:nvSpPr>
          <p:cNvPr id="193496123" name="Freeform 4"/>
          <p:cNvSpPr/>
          <p:nvPr/>
        </p:nvSpPr>
        <p:spPr bwMode="auto">
          <a:xfrm rot="0" flipH="0" flipV="0">
            <a:off x="8728413" y="1689955"/>
            <a:ext cx="896031" cy="925039"/>
          </a:xfrm>
          <a:custGeom>
            <a:avLst/>
            <a:gdLst/>
            <a:ahLst/>
            <a:cxnLst/>
            <a:rect l="l" t="t" r="r" b="b"/>
            <a:pathLst>
              <a:path w="896031" h="925039" fill="norm" stroke="1" extrusionOk="0">
                <a:moveTo>
                  <a:pt x="0" y="0"/>
                </a:moveTo>
                <a:lnTo>
                  <a:pt x="896031" y="0"/>
                </a:lnTo>
                <a:lnTo>
                  <a:pt x="896031" y="925039"/>
                </a:lnTo>
                <a:lnTo>
                  <a:pt x="0" y="925039"/>
                </a:lnTo>
                <a:lnTo>
                  <a:pt x="0" y="0"/>
                </a:lnTo>
                <a:close/>
              </a:path>
            </a:pathLst>
          </a:custGeom>
          <a:blipFill rotWithShape="1">
            <a:blip r:embed="rId6"/>
            <a:stretch>
              <a:fillRect l="0" t="0" r="0" b="0"/>
            </a:stretch>
          </a:blipFill>
        </p:spPr>
      </p:sp>
      <p:grpSp>
        <p:nvGrpSpPr>
          <p:cNvPr id="1016015747" name="Group 5"/>
          <p:cNvGrpSpPr/>
          <p:nvPr/>
        </p:nvGrpSpPr>
        <p:grpSpPr bwMode="auto">
          <a:xfrm rot="0">
            <a:off x="4727494" y="5756084"/>
            <a:ext cx="8833013" cy="1060832"/>
            <a:chOff x="0" y="0"/>
            <a:chExt cx="2326389" cy="279396"/>
          </a:xfrm>
        </p:grpSpPr>
        <p:sp>
          <p:nvSpPr>
            <p:cNvPr id="6" name="Freeform 6"/>
            <p:cNvSpPr/>
            <p:nvPr/>
          </p:nvSpPr>
          <p:spPr bwMode="auto">
            <a:xfrm rot="0" flipH="0" flipV="0">
              <a:off x="0" y="0"/>
              <a:ext cx="2326389" cy="279396"/>
            </a:xfrm>
            <a:custGeom>
              <a:avLst/>
              <a:gdLst/>
              <a:ahLst/>
              <a:cxnLst/>
              <a:rect l="l" t="t" r="r" b="b"/>
              <a:pathLst>
                <a:path w="2326390" h="279396" fill="norm" stroke="1" extrusionOk="0">
                  <a:moveTo>
                    <a:pt x="0" y="0"/>
                  </a:moveTo>
                  <a:lnTo>
                    <a:pt x="2326390" y="0"/>
                  </a:lnTo>
                  <a:lnTo>
                    <a:pt x="2326390" y="279396"/>
                  </a:lnTo>
                  <a:lnTo>
                    <a:pt x="0" y="279396"/>
                  </a:lnTo>
                  <a:close/>
                </a:path>
              </a:pathLst>
            </a:custGeom>
            <a:solidFill>
              <a:srgbClr val="FFCB00"/>
            </a:solidFill>
          </p:spPr>
        </p:sp>
        <p:sp>
          <p:nvSpPr>
            <p:cNvPr id="7" name="TextBox 7"/>
            <p:cNvSpPr txBox="1"/>
            <p:nvPr/>
          </p:nvSpPr>
          <p:spPr bwMode="auto">
            <a:xfrm>
              <a:off x="0" y="-38100"/>
              <a:ext cx="2326389" cy="317496"/>
            </a:xfrm>
            <a:prstGeom prst="rect">
              <a:avLst/>
            </a:prstGeom>
            <a:grpFill/>
          </p:spPr>
          <p:txBody>
            <a:bodyPr lIns="50800" tIns="50800" rIns="50800" bIns="50800" rtlCol="0" anchor="ctr"/>
            <a:lstStyle/>
            <a:p>
              <a:pPr marL="0" lvl="0" indent="0" algn="ctr">
                <a:lnSpc>
                  <a:spcPts val="2659"/>
                </a:lnSpc>
                <a:defRPr/>
              </a:pPr>
              <a:endParaRPr/>
            </a:p>
          </p:txBody>
        </p:sp>
      </p:grpSp>
      <p:sp>
        <p:nvSpPr>
          <p:cNvPr id="786939198" name="TextBox 8"/>
          <p:cNvSpPr txBox="1"/>
          <p:nvPr/>
        </p:nvSpPr>
        <p:spPr bwMode="auto">
          <a:xfrm rot="0">
            <a:off x="3843581" y="2783970"/>
            <a:ext cx="10678774" cy="2567664"/>
          </a:xfrm>
          <a:prstGeom prst="rect">
            <a:avLst/>
          </a:prstGeom>
        </p:spPr>
        <p:txBody>
          <a:bodyPr lIns="0" tIns="0" rIns="0" bIns="0" rtlCol="0" anchor="t">
            <a:spAutoFit/>
          </a:bodyPr>
          <a:lstStyle/>
          <a:p>
            <a:pPr marL="0" lvl="0" indent="0" algn="ctr">
              <a:lnSpc>
                <a:spcPts val="20215"/>
              </a:lnSpc>
              <a:spcBef>
                <a:spcPts val="0"/>
              </a:spcBef>
              <a:defRPr/>
            </a:pPr>
            <a:r>
              <a:rPr lang="en-US" sz="14450" b="1">
                <a:solidFill>
                  <a:srgbClr val="004AAD"/>
                </a:solidFill>
                <a:latin typeface="Poppins Bold"/>
                <a:ea typeface="Poppins Bold"/>
                <a:cs typeface="Poppins Bold"/>
              </a:rPr>
              <a:t>X-O Project</a:t>
            </a:r>
            <a:endParaRPr/>
          </a:p>
        </p:txBody>
      </p:sp>
      <p:sp>
        <p:nvSpPr>
          <p:cNvPr id="1414410518" name="TextBox 9"/>
          <p:cNvSpPr txBox="1"/>
          <p:nvPr/>
        </p:nvSpPr>
        <p:spPr bwMode="auto">
          <a:xfrm rot="0">
            <a:off x="4936752" y="5783263"/>
            <a:ext cx="8414495" cy="744081"/>
          </a:xfrm>
          <a:prstGeom prst="rect">
            <a:avLst/>
          </a:prstGeom>
        </p:spPr>
        <p:txBody>
          <a:bodyPr lIns="0" tIns="0" rIns="0" bIns="0" rtlCol="0" anchor="t">
            <a:spAutoFit/>
          </a:bodyPr>
          <a:lstStyle/>
          <a:p>
            <a:pPr marL="0" lvl="0" indent="0" algn="ctr">
              <a:lnSpc>
                <a:spcPts val="5712"/>
              </a:lnSpc>
              <a:spcBef>
                <a:spcPts val="0"/>
              </a:spcBef>
              <a:defRPr/>
            </a:pPr>
            <a:r>
              <a:rPr lang="en-US" sz="4100" b="1">
                <a:solidFill>
                  <a:srgbClr val="004AAD"/>
                </a:solidFill>
                <a:latin typeface="Poppins Bold"/>
                <a:ea typeface="Poppins Bold"/>
                <a:cs typeface="Poppins Bold"/>
              </a:rPr>
              <a:t>Designing an AI for Tic-Tac-Toe</a:t>
            </a:r>
            <a:endParaRPr/>
          </a:p>
        </p:txBody>
      </p:sp>
      <p:sp>
        <p:nvSpPr>
          <p:cNvPr id="1521294180" name="TextBox 10"/>
          <p:cNvSpPr txBox="1"/>
          <p:nvPr/>
        </p:nvSpPr>
        <p:spPr bwMode="auto">
          <a:xfrm rot="0">
            <a:off x="5585253" y="8724900"/>
            <a:ext cx="7117495" cy="507670"/>
          </a:xfrm>
          <a:prstGeom prst="rect">
            <a:avLst/>
          </a:prstGeom>
        </p:spPr>
        <p:txBody>
          <a:bodyPr lIns="0" tIns="0" rIns="0" bIns="0" rtlCol="0" anchor="t">
            <a:spAutoFit/>
          </a:bodyPr>
          <a:lstStyle/>
          <a:p>
            <a:pPr marL="0" lvl="0" indent="0" algn="ctr">
              <a:lnSpc>
                <a:spcPts val="4043"/>
              </a:lnSpc>
              <a:spcBef>
                <a:spcPts val="0"/>
              </a:spcBef>
              <a:defRPr/>
            </a:pPr>
            <a:r>
              <a:rPr lang="en-US" sz="2900">
                <a:solidFill>
                  <a:srgbClr val="004AAD"/>
                </a:solidFill>
                <a:latin typeface="Poppins"/>
                <a:ea typeface="Poppins"/>
                <a:cs typeface="Poppins"/>
              </a:rPr>
              <a:t>Team Members and AI Agent Overview</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8297076" name="Freeform 2"/>
          <p:cNvSpPr/>
          <p:nvPr/>
        </p:nvSpPr>
        <p:spPr bwMode="auto">
          <a:xfrm rot="0" flipH="0" flipV="0">
            <a:off x="0" y="0"/>
            <a:ext cx="18288000" cy="10287000"/>
          </a:xfrm>
          <a:custGeom>
            <a:avLst/>
            <a:gdLst/>
            <a:ahLst/>
            <a:cxnLst/>
            <a:rect l="l" t="t" r="r" b="b"/>
            <a:pathLst>
              <a:path w="18288000" h="10287000" fill="norm" stroke="1" extrusionOk="0">
                <a:moveTo>
                  <a:pt x="0" y="0"/>
                </a:moveTo>
                <a:lnTo>
                  <a:pt x="18288000" y="0"/>
                </a:lnTo>
                <a:lnTo>
                  <a:pt x="18288000" y="10287000"/>
                </a:lnTo>
                <a:lnTo>
                  <a:pt x="0" y="10287000"/>
                </a:lnTo>
                <a:lnTo>
                  <a:pt x="0" y="0"/>
                </a:lnTo>
                <a:close/>
              </a:path>
            </a:pathLst>
          </a:custGeom>
          <a:blipFill rotWithShape="1">
            <a:blip r:embed="rId3"/>
            <a:stretch>
              <a:fillRect l="0" t="-38888" r="0" b="-38888"/>
            </a:stretch>
          </a:blipFill>
        </p:spPr>
      </p:sp>
      <p:grpSp>
        <p:nvGrpSpPr>
          <p:cNvPr id="1114801874" name="Group 3"/>
          <p:cNvGrpSpPr/>
          <p:nvPr/>
        </p:nvGrpSpPr>
        <p:grpSpPr bwMode="auto">
          <a:xfrm rot="0">
            <a:off x="14761474" y="0"/>
            <a:ext cx="3526526" cy="10287000"/>
            <a:chOff x="0" y="0"/>
            <a:chExt cx="928797" cy="2709333"/>
          </a:xfrm>
        </p:grpSpPr>
        <p:sp>
          <p:nvSpPr>
            <p:cNvPr id="4" name="Freeform 4"/>
            <p:cNvSpPr/>
            <p:nvPr/>
          </p:nvSpPr>
          <p:spPr bwMode="auto">
            <a:xfrm rot="0" flipH="0" flipV="0">
              <a:off x="0" y="0"/>
              <a:ext cx="928797" cy="2709333"/>
            </a:xfrm>
            <a:custGeom>
              <a:avLst/>
              <a:gdLst/>
              <a:ahLst/>
              <a:cxnLst/>
              <a:rect l="l" t="t" r="r" b="b"/>
              <a:pathLst>
                <a:path w="928797" h="2709333" fill="norm" stroke="1" extrusionOk="0">
                  <a:moveTo>
                    <a:pt x="0" y="0"/>
                  </a:moveTo>
                  <a:lnTo>
                    <a:pt x="928797" y="0"/>
                  </a:lnTo>
                  <a:lnTo>
                    <a:pt x="928797" y="2709333"/>
                  </a:lnTo>
                  <a:lnTo>
                    <a:pt x="0" y="2709333"/>
                  </a:lnTo>
                  <a:close/>
                </a:path>
              </a:pathLst>
            </a:custGeom>
            <a:solidFill>
              <a:srgbClr val="FFCB00"/>
            </a:solidFill>
          </p:spPr>
        </p:sp>
        <p:sp>
          <p:nvSpPr>
            <p:cNvPr id="5" name="TextBox 5"/>
            <p:cNvSpPr txBox="1"/>
            <p:nvPr/>
          </p:nvSpPr>
          <p:spPr bwMode="auto">
            <a:xfrm>
              <a:off x="0" y="-38100"/>
              <a:ext cx="928797" cy="2747433"/>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1142608614" name="Group 6"/>
          <p:cNvGrpSpPr/>
          <p:nvPr/>
        </p:nvGrpSpPr>
        <p:grpSpPr bwMode="auto">
          <a:xfrm rot="0">
            <a:off x="12735231" y="3144441"/>
            <a:ext cx="1104183" cy="1126251"/>
            <a:chOff x="0" y="0"/>
            <a:chExt cx="290814" cy="296626"/>
          </a:xfrm>
        </p:grpSpPr>
        <p:sp>
          <p:nvSpPr>
            <p:cNvPr id="7" name="Freeform 7"/>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8" name="TextBox 8"/>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869790453" name="Group 9"/>
          <p:cNvGrpSpPr/>
          <p:nvPr/>
        </p:nvGrpSpPr>
        <p:grpSpPr bwMode="auto">
          <a:xfrm rot="0">
            <a:off x="12735231" y="6155451"/>
            <a:ext cx="1104183" cy="1126251"/>
            <a:chOff x="0" y="0"/>
            <a:chExt cx="290814" cy="296626"/>
          </a:xfrm>
        </p:grpSpPr>
        <p:sp>
          <p:nvSpPr>
            <p:cNvPr id="10" name="Freeform 10"/>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11" name="TextBox 11"/>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1797281592" name="Group 12"/>
          <p:cNvGrpSpPr/>
          <p:nvPr/>
        </p:nvGrpSpPr>
        <p:grpSpPr bwMode="auto">
          <a:xfrm rot="0">
            <a:off x="12735231" y="4648200"/>
            <a:ext cx="1104183" cy="1126251"/>
            <a:chOff x="0" y="0"/>
            <a:chExt cx="290814" cy="296626"/>
          </a:xfrm>
        </p:grpSpPr>
        <p:sp>
          <p:nvSpPr>
            <p:cNvPr id="13" name="Freeform 13"/>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14" name="TextBox 14"/>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sp>
        <p:nvSpPr>
          <p:cNvPr id="1363604297" name="Freeform 15"/>
          <p:cNvSpPr/>
          <p:nvPr/>
        </p:nvSpPr>
        <p:spPr bwMode="auto">
          <a:xfrm rot="0" flipH="0" flipV="0">
            <a:off x="16168566" y="1028700"/>
            <a:ext cx="712343" cy="817610"/>
          </a:xfrm>
          <a:custGeom>
            <a:avLst/>
            <a:gdLst/>
            <a:ahLst/>
            <a:cxnLst/>
            <a:rect l="l" t="t" r="r" b="b"/>
            <a:pathLst>
              <a:path w="712343" h="817610" fill="norm" stroke="1" extrusionOk="0">
                <a:moveTo>
                  <a:pt x="0" y="0"/>
                </a:moveTo>
                <a:lnTo>
                  <a:pt x="712342" y="0"/>
                </a:lnTo>
                <a:lnTo>
                  <a:pt x="712342" y="817610"/>
                </a:lnTo>
                <a:lnTo>
                  <a:pt x="0" y="817610"/>
                </a:lnTo>
                <a:lnTo>
                  <a:pt x="0" y="0"/>
                </a:lnTo>
                <a:close/>
              </a:path>
            </a:pathLst>
          </a:custGeom>
          <a:blipFill rotWithShape="1">
            <a:blip r:embed="rId4"/>
            <a:stretch>
              <a:fillRect l="0" t="0" r="0" b="0"/>
            </a:stretch>
          </a:blipFill>
        </p:spPr>
      </p:sp>
      <p:sp>
        <p:nvSpPr>
          <p:cNvPr id="1046633234" name="TextBox 16"/>
          <p:cNvSpPr txBox="1"/>
          <p:nvPr/>
        </p:nvSpPr>
        <p:spPr bwMode="auto">
          <a:xfrm rot="0">
            <a:off x="10285534" y="1777206"/>
            <a:ext cx="3553880" cy="617160"/>
          </a:xfrm>
          <a:prstGeom prst="rect">
            <a:avLst/>
          </a:prstGeom>
        </p:spPr>
        <p:txBody>
          <a:bodyPr lIns="0" tIns="0" rIns="0" bIns="0" rtlCol="0" anchor="t">
            <a:spAutoFit/>
          </a:bodyPr>
          <a:lstStyle/>
          <a:p>
            <a:pPr marL="0" lvl="0" indent="0" algn="r">
              <a:lnSpc>
                <a:spcPts val="4833"/>
              </a:lnSpc>
              <a:spcBef>
                <a:spcPts val="0"/>
              </a:spcBef>
              <a:defRPr/>
            </a:pPr>
            <a:r>
              <a:rPr lang="en-US" sz="3450" b="1">
                <a:solidFill>
                  <a:srgbClr val="004AAD"/>
                </a:solidFill>
                <a:latin typeface="Poppins Bold"/>
                <a:ea typeface="Poppins Bold"/>
                <a:cs typeface="Poppins Bold"/>
              </a:rPr>
              <a:t>Team Members</a:t>
            </a:r>
            <a:endParaRPr/>
          </a:p>
        </p:txBody>
      </p:sp>
      <p:sp>
        <p:nvSpPr>
          <p:cNvPr id="1034491304" name="TextBox 17"/>
          <p:cNvSpPr txBox="1"/>
          <p:nvPr/>
        </p:nvSpPr>
        <p:spPr bwMode="auto">
          <a:xfrm rot="-5400000">
            <a:off x="13490320" y="4241710"/>
            <a:ext cx="5783262" cy="1803580"/>
          </a:xfrm>
          <a:prstGeom prst="rect">
            <a:avLst/>
          </a:prstGeom>
        </p:spPr>
        <p:txBody>
          <a:bodyPr lIns="0" tIns="0" rIns="0" bIns="0" rtlCol="0" anchor="t">
            <a:spAutoFit/>
          </a:bodyPr>
          <a:lstStyle/>
          <a:p>
            <a:pPr marL="0" lvl="0" indent="0" algn="ctr">
              <a:lnSpc>
                <a:spcPts val="13990"/>
              </a:lnSpc>
              <a:spcBef>
                <a:spcPts val="0"/>
              </a:spcBef>
              <a:defRPr/>
            </a:pPr>
            <a:r>
              <a:rPr lang="en-US" sz="10000" b="1">
                <a:solidFill>
                  <a:srgbClr val="004AAD"/>
                </a:solidFill>
                <a:latin typeface="Poppins Bold"/>
                <a:ea typeface="Poppins Bold"/>
                <a:cs typeface="Poppins Bold"/>
              </a:rPr>
              <a:t>Team</a:t>
            </a:r>
            <a:endParaRPr/>
          </a:p>
        </p:txBody>
      </p:sp>
      <p:sp>
        <p:nvSpPr>
          <p:cNvPr id="1464779132" name="TextBox 18"/>
          <p:cNvSpPr txBox="1"/>
          <p:nvPr/>
        </p:nvSpPr>
        <p:spPr bwMode="auto">
          <a:xfrm rot="0">
            <a:off x="3772074" y="3104861"/>
            <a:ext cx="8498692" cy="1047804"/>
          </a:xfrm>
          <a:prstGeom prst="rect">
            <a:avLst/>
          </a:prstGeom>
        </p:spPr>
        <p:txBody>
          <a:bodyPr lIns="0" tIns="0" rIns="0" bIns="0" rtlCol="0" anchor="t">
            <a:spAutoFit/>
          </a:bodyPr>
          <a:lstStyle/>
          <a:p>
            <a:pPr algn="r">
              <a:lnSpc>
                <a:spcPts val="4197"/>
              </a:lnSpc>
              <a:spcBef>
                <a:spcPts val="0"/>
              </a:spcBef>
              <a:defRPr/>
            </a:pPr>
            <a:r>
              <a:rPr lang="ar-EG" sz="3000">
                <a:solidFill>
                  <a:srgbClr val="004AAD"/>
                </a:solidFill>
                <a:latin typeface="Poppins"/>
                <a:ea typeface="Poppins"/>
                <a:cs typeface="Poppins"/>
              </a:rPr>
              <a:t>محمد</a:t>
            </a:r>
            <a:r>
              <a:rPr lang="ar-EG" sz="3000">
                <a:solidFill>
                  <a:srgbClr val="004AAD"/>
                </a:solidFill>
                <a:latin typeface="Poppins"/>
                <a:ea typeface="Poppins"/>
                <a:cs typeface="Poppins"/>
              </a:rPr>
              <a:t> ضياء السيد عبد الحي محمود (سكشن: </a:t>
            </a:r>
            <a:r>
              <a:rPr lang="en-US" sz="3000">
                <a:solidFill>
                  <a:srgbClr val="004AAD"/>
                </a:solidFill>
                <a:latin typeface="Poppins"/>
                <a:ea typeface="Poppins"/>
                <a:cs typeface="Poppins"/>
              </a:rPr>
              <a:t>7</a:t>
            </a:r>
            <a:r>
              <a:rPr lang="ar-EG" sz="3000">
                <a:solidFill>
                  <a:srgbClr val="004AAD"/>
                </a:solidFill>
                <a:latin typeface="Poppins"/>
                <a:ea typeface="Poppins"/>
                <a:cs typeface="Poppins"/>
              </a:rPr>
              <a:t>)</a:t>
            </a:r>
            <a:endParaRPr/>
          </a:p>
          <a:p>
            <a:pPr marL="0" lvl="0" indent="0" algn="r">
              <a:lnSpc>
                <a:spcPts val="4197"/>
              </a:lnSpc>
              <a:spcBef>
                <a:spcPts val="0"/>
              </a:spcBef>
              <a:defRPr/>
            </a:pPr>
            <a:endParaRPr lang="ar-EG" sz="3000">
              <a:solidFill>
                <a:srgbClr val="004AAD"/>
              </a:solidFill>
              <a:latin typeface="Poppins"/>
              <a:ea typeface="Poppins"/>
              <a:cs typeface="Poppins"/>
            </a:endParaRPr>
          </a:p>
        </p:txBody>
      </p:sp>
      <p:sp>
        <p:nvSpPr>
          <p:cNvPr id="2113767994" name="TextBox 19"/>
          <p:cNvSpPr txBox="1"/>
          <p:nvPr/>
        </p:nvSpPr>
        <p:spPr bwMode="auto">
          <a:xfrm rot="0">
            <a:off x="3772074" y="6115872"/>
            <a:ext cx="8498692" cy="523929"/>
          </a:xfrm>
          <a:prstGeom prst="rect">
            <a:avLst/>
          </a:prstGeom>
        </p:spPr>
        <p:txBody>
          <a:bodyPr lIns="0" tIns="0" rIns="0" bIns="0" rtlCol="0" anchor="t">
            <a:spAutoFit/>
          </a:bodyPr>
          <a:lstStyle/>
          <a:p>
            <a:pPr algn="r">
              <a:lnSpc>
                <a:spcPts val="4197"/>
              </a:lnSpc>
              <a:spcBef>
                <a:spcPts val="0"/>
              </a:spcBef>
              <a:defRPr/>
            </a:pPr>
            <a:r>
              <a:rPr lang="ar-EG" sz="3000">
                <a:solidFill>
                  <a:srgbClr val="004AAD"/>
                </a:solidFill>
                <a:latin typeface="Poppins"/>
                <a:ea typeface="Poppins"/>
                <a:cs typeface="Poppins"/>
              </a:rPr>
              <a:t>محمد</a:t>
            </a:r>
            <a:r>
              <a:rPr lang="ar-EG" sz="3000">
                <a:solidFill>
                  <a:srgbClr val="004AAD"/>
                </a:solidFill>
                <a:latin typeface="Poppins"/>
                <a:ea typeface="Poppins"/>
                <a:cs typeface="Poppins"/>
              </a:rPr>
              <a:t> خالد محمد عبد الرحيم محمد وفا (سكشن: </a:t>
            </a:r>
            <a:r>
              <a:rPr lang="en-US" sz="3000">
                <a:solidFill>
                  <a:srgbClr val="004AAD"/>
                </a:solidFill>
                <a:latin typeface="Poppins"/>
                <a:ea typeface="Poppins"/>
                <a:cs typeface="Poppins"/>
              </a:rPr>
              <a:t>6</a:t>
            </a:r>
            <a:r>
              <a:rPr lang="ar-EG" sz="3000">
                <a:solidFill>
                  <a:srgbClr val="004AAD"/>
                </a:solidFill>
                <a:latin typeface="Poppins"/>
                <a:ea typeface="Poppins"/>
                <a:cs typeface="Poppins"/>
              </a:rPr>
              <a:t>)</a:t>
            </a:r>
            <a:endParaRPr/>
          </a:p>
        </p:txBody>
      </p:sp>
      <p:sp>
        <p:nvSpPr>
          <p:cNvPr id="1801504202" name="Freeform 20"/>
          <p:cNvSpPr/>
          <p:nvPr/>
        </p:nvSpPr>
        <p:spPr bwMode="auto">
          <a:xfrm rot="0" flipH="0" flipV="0">
            <a:off x="12933432" y="8352318"/>
            <a:ext cx="905982" cy="905982"/>
          </a:xfrm>
          <a:custGeom>
            <a:avLst/>
            <a:gdLst/>
            <a:ahLst/>
            <a:cxnLst/>
            <a:rect l="l" t="t" r="r" b="b"/>
            <a:pathLst>
              <a:path w="905982" h="905982" fill="norm" stroke="1" extrusionOk="0">
                <a:moveTo>
                  <a:pt x="0" y="0"/>
                </a:moveTo>
                <a:lnTo>
                  <a:pt x="905982" y="0"/>
                </a:lnTo>
                <a:lnTo>
                  <a:pt x="905982" y="905982"/>
                </a:lnTo>
                <a:lnTo>
                  <a:pt x="0" y="905982"/>
                </a:lnTo>
                <a:lnTo>
                  <a:pt x="0" y="0"/>
                </a:lnTo>
                <a:close/>
              </a:path>
            </a:pathLst>
          </a:custGeom>
          <a:blipFill rotWithShape="1">
            <a:blip r:embed="rId6"/>
            <a:stretch>
              <a:fillRect l="0" t="0" r="0" b="0"/>
            </a:stretch>
          </a:blipFill>
        </p:spPr>
      </p:sp>
      <p:sp>
        <p:nvSpPr>
          <p:cNvPr id="2022043694" name="TextBox 21"/>
          <p:cNvSpPr txBox="1"/>
          <p:nvPr/>
        </p:nvSpPr>
        <p:spPr bwMode="auto">
          <a:xfrm rot="0">
            <a:off x="3443425" y="4608621"/>
            <a:ext cx="8827341" cy="523929"/>
          </a:xfrm>
          <a:prstGeom prst="rect">
            <a:avLst/>
          </a:prstGeom>
        </p:spPr>
        <p:txBody>
          <a:bodyPr lIns="0" tIns="0" rIns="0" bIns="0" rtlCol="0" anchor="t">
            <a:spAutoFit/>
          </a:bodyPr>
          <a:lstStyle/>
          <a:p>
            <a:pPr marL="0" lvl="0" indent="0" algn="just" rtl="1">
              <a:lnSpc>
                <a:spcPts val="4197"/>
              </a:lnSpc>
              <a:spcBef>
                <a:spcPts val="0"/>
              </a:spcBef>
              <a:defRPr/>
            </a:pPr>
            <a:r>
              <a:rPr lang="ar-EG" sz="3000">
                <a:solidFill>
                  <a:srgbClr val="004AAD"/>
                </a:solidFill>
                <a:latin typeface="Poppins"/>
                <a:ea typeface="Poppins"/>
                <a:cs typeface="Poppins"/>
              </a:rPr>
              <a:t>محمد  سمير مجاهد أبو الوفا الزيني (سكشن: </a:t>
            </a:r>
            <a:r>
              <a:rPr lang="en-US" sz="3000">
                <a:solidFill>
                  <a:srgbClr val="004AAD"/>
                </a:solidFill>
                <a:latin typeface="Poppins"/>
                <a:ea typeface="Poppins"/>
                <a:cs typeface="Poppins"/>
              </a:rPr>
              <a:t>7</a:t>
            </a:r>
            <a:r>
              <a:rPr lang="ar-EG" sz="3000">
                <a:solidFill>
                  <a:srgbClr val="004AAD"/>
                </a:solidFill>
                <a:latin typeface="Poppins"/>
                <a:ea typeface="Poppins"/>
                <a:cs typeface="Poppins"/>
              </a:rPr>
              <a:t>)</a:t>
            </a:r>
            <a:endParaRPr/>
          </a:p>
        </p:txBody>
      </p:sp>
      <p:sp>
        <p:nvSpPr>
          <p:cNvPr id="1457491551" name="TextBox 22"/>
          <p:cNvSpPr txBox="1"/>
          <p:nvPr/>
        </p:nvSpPr>
        <p:spPr bwMode="auto">
          <a:xfrm rot="0">
            <a:off x="12735231" y="3129171"/>
            <a:ext cx="1104183" cy="755194"/>
          </a:xfrm>
          <a:prstGeom prst="rect">
            <a:avLst/>
          </a:prstGeom>
        </p:spPr>
        <p:txBody>
          <a:bodyPr lIns="0" tIns="0" rIns="0" bIns="0" rtlCol="0" anchor="t">
            <a:spAutoFit/>
          </a:bodyPr>
          <a:lstStyle/>
          <a:p>
            <a:pPr marL="0" lvl="0" indent="0" algn="ctr">
              <a:lnSpc>
                <a:spcPts val="5889"/>
              </a:lnSpc>
              <a:spcBef>
                <a:spcPts val="0"/>
              </a:spcBef>
              <a:defRPr/>
            </a:pPr>
            <a:r>
              <a:rPr lang="en-US" sz="4200" b="1">
                <a:solidFill>
                  <a:srgbClr val="FFFFFF"/>
                </a:solidFill>
                <a:latin typeface="Poppins Bold"/>
                <a:ea typeface="Poppins Bold"/>
                <a:cs typeface="Poppins Bold"/>
              </a:rPr>
              <a:t>1</a:t>
            </a:r>
            <a:endParaRPr/>
          </a:p>
        </p:txBody>
      </p:sp>
      <p:sp>
        <p:nvSpPr>
          <p:cNvPr id="117946829" name="TextBox 23"/>
          <p:cNvSpPr txBox="1"/>
          <p:nvPr/>
        </p:nvSpPr>
        <p:spPr bwMode="auto">
          <a:xfrm rot="0">
            <a:off x="12735231" y="6140182"/>
            <a:ext cx="1104183" cy="755194"/>
          </a:xfrm>
          <a:prstGeom prst="rect">
            <a:avLst/>
          </a:prstGeom>
        </p:spPr>
        <p:txBody>
          <a:bodyPr lIns="0" tIns="0" rIns="0" bIns="0" rtlCol="0" anchor="t">
            <a:spAutoFit/>
          </a:bodyPr>
          <a:lstStyle/>
          <a:p>
            <a:pPr marL="0" lvl="0" indent="0" algn="ctr">
              <a:lnSpc>
                <a:spcPts val="5889"/>
              </a:lnSpc>
              <a:spcBef>
                <a:spcPts val="0"/>
              </a:spcBef>
              <a:defRPr/>
            </a:pPr>
            <a:r>
              <a:rPr lang="en-US" sz="4200" b="1">
                <a:solidFill>
                  <a:srgbClr val="FFFFFF"/>
                </a:solidFill>
                <a:latin typeface="Poppins Bold"/>
                <a:ea typeface="Poppins Bold"/>
                <a:cs typeface="Poppins Bold"/>
              </a:rPr>
              <a:t>3</a:t>
            </a:r>
            <a:endParaRPr/>
          </a:p>
        </p:txBody>
      </p:sp>
      <p:sp>
        <p:nvSpPr>
          <p:cNvPr id="1221002488" name="TextBox 24"/>
          <p:cNvSpPr txBox="1"/>
          <p:nvPr/>
        </p:nvSpPr>
        <p:spPr bwMode="auto">
          <a:xfrm rot="0">
            <a:off x="12735231" y="4632931"/>
            <a:ext cx="1104183" cy="755194"/>
          </a:xfrm>
          <a:prstGeom prst="rect">
            <a:avLst/>
          </a:prstGeom>
        </p:spPr>
        <p:txBody>
          <a:bodyPr lIns="0" tIns="0" rIns="0" bIns="0" rtlCol="0" anchor="t">
            <a:spAutoFit/>
          </a:bodyPr>
          <a:lstStyle/>
          <a:p>
            <a:pPr marL="0" lvl="0" indent="0" algn="ctr">
              <a:lnSpc>
                <a:spcPts val="5889"/>
              </a:lnSpc>
              <a:spcBef>
                <a:spcPts val="0"/>
              </a:spcBef>
              <a:defRPr/>
            </a:pPr>
            <a:r>
              <a:rPr lang="en-US" sz="4200" b="1">
                <a:solidFill>
                  <a:srgbClr val="FFFFFF"/>
                </a:solidFill>
                <a:latin typeface="Poppins Bold"/>
                <a:ea typeface="Poppins Bold"/>
                <a:cs typeface="Poppins Bold"/>
              </a:rPr>
              <a:t>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4944517" name="Freeform 2"/>
          <p:cNvSpPr/>
          <p:nvPr/>
        </p:nvSpPr>
        <p:spPr bwMode="auto">
          <a:xfrm rot="0" flipH="0" flipV="0">
            <a:off x="0" y="0"/>
            <a:ext cx="18288000" cy="10287000"/>
          </a:xfrm>
          <a:custGeom>
            <a:avLst/>
            <a:gdLst/>
            <a:ahLst/>
            <a:cxnLst/>
            <a:rect l="l" t="t" r="r" b="b"/>
            <a:pathLst>
              <a:path w="18288000" h="10287000" fill="norm" stroke="1" extrusionOk="0">
                <a:moveTo>
                  <a:pt x="0" y="0"/>
                </a:moveTo>
                <a:lnTo>
                  <a:pt x="18288000" y="0"/>
                </a:lnTo>
                <a:lnTo>
                  <a:pt x="18288000" y="10287000"/>
                </a:lnTo>
                <a:lnTo>
                  <a:pt x="0" y="10287000"/>
                </a:lnTo>
                <a:lnTo>
                  <a:pt x="0" y="0"/>
                </a:lnTo>
                <a:close/>
              </a:path>
            </a:pathLst>
          </a:custGeom>
          <a:blipFill rotWithShape="1">
            <a:blip r:embed="rId3"/>
            <a:stretch>
              <a:fillRect l="0" t="-38888" r="0" b="-38888"/>
            </a:stretch>
          </a:blipFill>
        </p:spPr>
      </p:sp>
      <p:grpSp>
        <p:nvGrpSpPr>
          <p:cNvPr id="1213463258" name="Group 3"/>
          <p:cNvGrpSpPr/>
          <p:nvPr/>
        </p:nvGrpSpPr>
        <p:grpSpPr bwMode="auto">
          <a:xfrm rot="0">
            <a:off x="14761474" y="0"/>
            <a:ext cx="3526526" cy="10287000"/>
            <a:chOff x="0" y="0"/>
            <a:chExt cx="928797" cy="2709333"/>
          </a:xfrm>
        </p:grpSpPr>
        <p:sp>
          <p:nvSpPr>
            <p:cNvPr id="4" name="Freeform 4"/>
            <p:cNvSpPr/>
            <p:nvPr/>
          </p:nvSpPr>
          <p:spPr bwMode="auto">
            <a:xfrm rot="0" flipH="0" flipV="0">
              <a:off x="0" y="0"/>
              <a:ext cx="928797" cy="2709333"/>
            </a:xfrm>
            <a:custGeom>
              <a:avLst/>
              <a:gdLst/>
              <a:ahLst/>
              <a:cxnLst/>
              <a:rect l="l" t="t" r="r" b="b"/>
              <a:pathLst>
                <a:path w="928797" h="2709333" fill="norm" stroke="1" extrusionOk="0">
                  <a:moveTo>
                    <a:pt x="0" y="0"/>
                  </a:moveTo>
                  <a:lnTo>
                    <a:pt x="928797" y="0"/>
                  </a:lnTo>
                  <a:lnTo>
                    <a:pt x="928797" y="2709333"/>
                  </a:lnTo>
                  <a:lnTo>
                    <a:pt x="0" y="2709333"/>
                  </a:lnTo>
                  <a:close/>
                </a:path>
              </a:pathLst>
            </a:custGeom>
            <a:solidFill>
              <a:srgbClr val="FFCB00"/>
            </a:solidFill>
          </p:spPr>
        </p:sp>
        <p:sp>
          <p:nvSpPr>
            <p:cNvPr id="5" name="TextBox 5"/>
            <p:cNvSpPr txBox="1"/>
            <p:nvPr/>
          </p:nvSpPr>
          <p:spPr bwMode="auto">
            <a:xfrm>
              <a:off x="0" y="-38100"/>
              <a:ext cx="928797" cy="2747433"/>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1561965374" name="Group 6"/>
          <p:cNvGrpSpPr/>
          <p:nvPr/>
        </p:nvGrpSpPr>
        <p:grpSpPr bwMode="auto">
          <a:xfrm rot="0">
            <a:off x="12735231" y="3144441"/>
            <a:ext cx="1104183" cy="1126251"/>
            <a:chOff x="0" y="0"/>
            <a:chExt cx="290814" cy="296626"/>
          </a:xfrm>
        </p:grpSpPr>
        <p:sp>
          <p:nvSpPr>
            <p:cNvPr id="7" name="Freeform 7"/>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8" name="TextBox 8"/>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37633411" name="Group 9"/>
          <p:cNvGrpSpPr/>
          <p:nvPr/>
        </p:nvGrpSpPr>
        <p:grpSpPr bwMode="auto">
          <a:xfrm rot="0">
            <a:off x="12735231" y="6155451"/>
            <a:ext cx="1104183" cy="1126251"/>
            <a:chOff x="0" y="0"/>
            <a:chExt cx="290814" cy="296626"/>
          </a:xfrm>
        </p:grpSpPr>
        <p:sp>
          <p:nvSpPr>
            <p:cNvPr id="10" name="Freeform 10"/>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11" name="TextBox 11"/>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1201299812" name="Group 12"/>
          <p:cNvGrpSpPr/>
          <p:nvPr/>
        </p:nvGrpSpPr>
        <p:grpSpPr bwMode="auto">
          <a:xfrm rot="0">
            <a:off x="12735231" y="4648200"/>
            <a:ext cx="1104183" cy="1126251"/>
            <a:chOff x="0" y="0"/>
            <a:chExt cx="290814" cy="296626"/>
          </a:xfrm>
        </p:grpSpPr>
        <p:sp>
          <p:nvSpPr>
            <p:cNvPr id="13" name="Freeform 13"/>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14" name="TextBox 14"/>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sp>
        <p:nvSpPr>
          <p:cNvPr id="1104603901" name="Freeform 15"/>
          <p:cNvSpPr/>
          <p:nvPr/>
        </p:nvSpPr>
        <p:spPr bwMode="auto">
          <a:xfrm rot="0" flipH="0" flipV="0">
            <a:off x="16150284" y="1031467"/>
            <a:ext cx="731667" cy="775480"/>
          </a:xfrm>
          <a:custGeom>
            <a:avLst/>
            <a:gdLst/>
            <a:ahLst/>
            <a:cxnLst/>
            <a:rect l="l" t="t" r="r" b="b"/>
            <a:pathLst>
              <a:path w="731667" h="775480" fill="norm" stroke="1" extrusionOk="0">
                <a:moveTo>
                  <a:pt x="0" y="0"/>
                </a:moveTo>
                <a:lnTo>
                  <a:pt x="731668" y="0"/>
                </a:lnTo>
                <a:lnTo>
                  <a:pt x="731668" y="775480"/>
                </a:lnTo>
                <a:lnTo>
                  <a:pt x="0" y="775480"/>
                </a:lnTo>
                <a:lnTo>
                  <a:pt x="0" y="0"/>
                </a:lnTo>
                <a:close/>
              </a:path>
            </a:pathLst>
          </a:custGeom>
          <a:blipFill rotWithShape="1">
            <a:blip r:embed="rId4"/>
            <a:stretch>
              <a:fillRect l="0" t="0" r="0" b="0"/>
            </a:stretch>
          </a:blipFill>
        </p:spPr>
      </p:sp>
      <p:sp>
        <p:nvSpPr>
          <p:cNvPr id="662198167" name="TextBox 16"/>
          <p:cNvSpPr txBox="1"/>
          <p:nvPr/>
        </p:nvSpPr>
        <p:spPr bwMode="auto">
          <a:xfrm rot="0">
            <a:off x="10285534" y="1777206"/>
            <a:ext cx="3553880" cy="600769"/>
          </a:xfrm>
          <a:prstGeom prst="rect">
            <a:avLst/>
          </a:prstGeom>
        </p:spPr>
        <p:txBody>
          <a:bodyPr lIns="0" tIns="0" rIns="0" bIns="0" rtlCol="0" anchor="t">
            <a:spAutoFit/>
          </a:bodyPr>
          <a:lstStyle/>
          <a:p>
            <a:pPr marL="0" lvl="0" indent="0" algn="r">
              <a:lnSpc>
                <a:spcPts val="4686"/>
              </a:lnSpc>
              <a:spcBef>
                <a:spcPts val="0"/>
              </a:spcBef>
              <a:defRPr/>
            </a:pPr>
            <a:r>
              <a:rPr lang="en-US" sz="3350" b="1">
                <a:solidFill>
                  <a:srgbClr val="004AAD"/>
                </a:solidFill>
                <a:latin typeface="Poppins Bold"/>
                <a:ea typeface="Poppins Bold"/>
                <a:cs typeface="Poppins Bold"/>
              </a:rPr>
              <a:t>Project Proposal</a:t>
            </a:r>
            <a:endParaRPr/>
          </a:p>
        </p:txBody>
      </p:sp>
      <p:sp>
        <p:nvSpPr>
          <p:cNvPr id="1053377503" name="TextBox 17"/>
          <p:cNvSpPr txBox="1"/>
          <p:nvPr/>
        </p:nvSpPr>
        <p:spPr bwMode="auto">
          <a:xfrm rot="-5400000">
            <a:off x="13490320" y="4241710"/>
            <a:ext cx="5783262" cy="1803580"/>
          </a:xfrm>
          <a:prstGeom prst="rect">
            <a:avLst/>
          </a:prstGeom>
        </p:spPr>
        <p:txBody>
          <a:bodyPr lIns="0" tIns="0" rIns="0" bIns="0" rtlCol="0" anchor="t">
            <a:spAutoFit/>
          </a:bodyPr>
          <a:lstStyle/>
          <a:p>
            <a:pPr marL="0" lvl="0" indent="0" algn="ctr">
              <a:lnSpc>
                <a:spcPts val="13990"/>
              </a:lnSpc>
              <a:spcBef>
                <a:spcPts val="0"/>
              </a:spcBef>
              <a:defRPr/>
            </a:pPr>
            <a:r>
              <a:rPr lang="en-US" sz="10000" b="1">
                <a:solidFill>
                  <a:srgbClr val="004AAD"/>
                </a:solidFill>
                <a:latin typeface="Poppins Bold"/>
                <a:ea typeface="Poppins Bold"/>
                <a:cs typeface="Poppins Bold"/>
              </a:rPr>
              <a:t>Goals</a:t>
            </a:r>
            <a:endParaRPr/>
          </a:p>
        </p:txBody>
      </p:sp>
      <p:sp>
        <p:nvSpPr>
          <p:cNvPr id="1884973898" name="TextBox 18"/>
          <p:cNvSpPr txBox="1"/>
          <p:nvPr/>
        </p:nvSpPr>
        <p:spPr bwMode="auto">
          <a:xfrm rot="0">
            <a:off x="3772074" y="3114386"/>
            <a:ext cx="8498692" cy="933152"/>
          </a:xfrm>
          <a:prstGeom prst="rect">
            <a:avLst/>
          </a:prstGeom>
        </p:spPr>
        <p:txBody>
          <a:bodyPr lIns="0" tIns="0" rIns="0" bIns="0" rtlCol="0" anchor="t">
            <a:spAutoFit/>
          </a:bodyPr>
          <a:lstStyle/>
          <a:p>
            <a:pPr marL="0" lvl="0" indent="0" algn="r">
              <a:lnSpc>
                <a:spcPts val="3691"/>
              </a:lnSpc>
              <a:spcBef>
                <a:spcPts val="0"/>
              </a:spcBef>
              <a:defRPr/>
            </a:pPr>
            <a:r>
              <a:rPr lang="en-US" sz="2650">
                <a:solidFill>
                  <a:srgbClr val="004AAD"/>
                </a:solidFill>
                <a:latin typeface="Poppins"/>
                <a:ea typeface="Poppins"/>
                <a:cs typeface="Poppins"/>
              </a:rPr>
              <a:t>Design an AI agent capable of playing Tic-Tac-Toe (X-O) against human or computer opponents.</a:t>
            </a:r>
            <a:endParaRPr/>
          </a:p>
        </p:txBody>
      </p:sp>
      <p:sp>
        <p:nvSpPr>
          <p:cNvPr id="2128480207" name="TextBox 19"/>
          <p:cNvSpPr txBox="1"/>
          <p:nvPr/>
        </p:nvSpPr>
        <p:spPr bwMode="auto">
          <a:xfrm rot="0">
            <a:off x="3772074" y="6125397"/>
            <a:ext cx="8498692" cy="933152"/>
          </a:xfrm>
          <a:prstGeom prst="rect">
            <a:avLst/>
          </a:prstGeom>
        </p:spPr>
        <p:txBody>
          <a:bodyPr lIns="0" tIns="0" rIns="0" bIns="0" rtlCol="0" anchor="t">
            <a:spAutoFit/>
          </a:bodyPr>
          <a:lstStyle/>
          <a:p>
            <a:pPr marL="0" lvl="0" indent="0" algn="r">
              <a:lnSpc>
                <a:spcPts val="3691"/>
              </a:lnSpc>
              <a:spcBef>
                <a:spcPts val="0"/>
              </a:spcBef>
              <a:defRPr/>
            </a:pPr>
            <a:r>
              <a:rPr lang="en-US" sz="2650">
                <a:solidFill>
                  <a:srgbClr val="004AAD"/>
                </a:solidFill>
                <a:latin typeface="Poppins"/>
                <a:ea typeface="Poppins"/>
                <a:cs typeface="Poppins"/>
              </a:rPr>
              <a:t>Ultimate goal: achieve victory or prevent the opponent from winning.</a:t>
            </a:r>
            <a:endParaRPr/>
          </a:p>
        </p:txBody>
      </p:sp>
      <p:sp>
        <p:nvSpPr>
          <p:cNvPr id="735347976" name="Freeform 20"/>
          <p:cNvSpPr/>
          <p:nvPr/>
        </p:nvSpPr>
        <p:spPr bwMode="auto">
          <a:xfrm rot="0" flipH="0" flipV="0">
            <a:off x="12933432" y="8352318"/>
            <a:ext cx="905982" cy="905982"/>
          </a:xfrm>
          <a:custGeom>
            <a:avLst/>
            <a:gdLst/>
            <a:ahLst/>
            <a:cxnLst/>
            <a:rect l="l" t="t" r="r" b="b"/>
            <a:pathLst>
              <a:path w="905982" h="905982" fill="norm" stroke="1" extrusionOk="0">
                <a:moveTo>
                  <a:pt x="0" y="0"/>
                </a:moveTo>
                <a:lnTo>
                  <a:pt x="905982" y="0"/>
                </a:lnTo>
                <a:lnTo>
                  <a:pt x="905982" y="905982"/>
                </a:lnTo>
                <a:lnTo>
                  <a:pt x="0" y="905982"/>
                </a:lnTo>
                <a:lnTo>
                  <a:pt x="0" y="0"/>
                </a:lnTo>
                <a:close/>
              </a:path>
            </a:pathLst>
          </a:custGeom>
          <a:blipFill rotWithShape="1">
            <a:blip r:embed="rId5"/>
            <a:stretch>
              <a:fillRect l="0" t="0" r="0" b="0"/>
            </a:stretch>
          </a:blipFill>
        </p:spPr>
      </p:sp>
      <p:sp>
        <p:nvSpPr>
          <p:cNvPr id="1737855216" name="TextBox 21"/>
          <p:cNvSpPr txBox="1"/>
          <p:nvPr/>
        </p:nvSpPr>
        <p:spPr bwMode="auto">
          <a:xfrm rot="0">
            <a:off x="3443425" y="4618146"/>
            <a:ext cx="8827341" cy="933152"/>
          </a:xfrm>
          <a:prstGeom prst="rect">
            <a:avLst/>
          </a:prstGeom>
        </p:spPr>
        <p:txBody>
          <a:bodyPr lIns="0" tIns="0" rIns="0" bIns="0" rtlCol="0" anchor="t">
            <a:spAutoFit/>
          </a:bodyPr>
          <a:lstStyle/>
          <a:p>
            <a:pPr marL="0" lvl="0" indent="0" algn="r">
              <a:lnSpc>
                <a:spcPts val="3691"/>
              </a:lnSpc>
              <a:spcBef>
                <a:spcPts val="0"/>
              </a:spcBef>
              <a:defRPr/>
            </a:pPr>
            <a:r>
              <a:rPr lang="en-US" sz="2650">
                <a:solidFill>
                  <a:srgbClr val="004AAD"/>
                </a:solidFill>
                <a:latin typeface="Poppins"/>
                <a:ea typeface="Poppins"/>
                <a:cs typeface="Poppins"/>
              </a:rPr>
              <a:t>Agent analyzes the current board state and strategically selects the optimal move.</a:t>
            </a:r>
            <a:endParaRPr/>
          </a:p>
        </p:txBody>
      </p:sp>
      <p:sp>
        <p:nvSpPr>
          <p:cNvPr id="132550684" name="TextBox 22"/>
          <p:cNvSpPr txBox="1"/>
          <p:nvPr/>
        </p:nvSpPr>
        <p:spPr bwMode="auto">
          <a:xfrm rot="0">
            <a:off x="12735231" y="3119646"/>
            <a:ext cx="1104183" cy="742175"/>
          </a:xfrm>
          <a:prstGeom prst="rect">
            <a:avLst/>
          </a:prstGeom>
        </p:spPr>
        <p:txBody>
          <a:bodyPr lIns="0" tIns="0" rIns="0" bIns="0" rtlCol="0" anchor="t">
            <a:spAutoFit/>
          </a:bodyPr>
          <a:lstStyle/>
          <a:p>
            <a:pPr marL="0" lvl="0" indent="0" algn="ctr">
              <a:lnSpc>
                <a:spcPts val="5710"/>
              </a:lnSpc>
              <a:spcBef>
                <a:spcPts val="0"/>
              </a:spcBef>
              <a:defRPr/>
            </a:pPr>
            <a:r>
              <a:rPr lang="en-US" sz="4100" b="1">
                <a:solidFill>
                  <a:srgbClr val="FFFFFF"/>
                </a:solidFill>
                <a:latin typeface="Poppins Bold"/>
                <a:ea typeface="Poppins Bold"/>
                <a:cs typeface="Poppins Bold"/>
              </a:rPr>
              <a:t>1</a:t>
            </a:r>
            <a:endParaRPr/>
          </a:p>
        </p:txBody>
      </p:sp>
      <p:sp>
        <p:nvSpPr>
          <p:cNvPr id="153866865" name="TextBox 23"/>
          <p:cNvSpPr txBox="1"/>
          <p:nvPr/>
        </p:nvSpPr>
        <p:spPr bwMode="auto">
          <a:xfrm rot="0">
            <a:off x="12735231" y="6130657"/>
            <a:ext cx="1104183" cy="742175"/>
          </a:xfrm>
          <a:prstGeom prst="rect">
            <a:avLst/>
          </a:prstGeom>
        </p:spPr>
        <p:txBody>
          <a:bodyPr lIns="0" tIns="0" rIns="0" bIns="0" rtlCol="0" anchor="t">
            <a:spAutoFit/>
          </a:bodyPr>
          <a:lstStyle/>
          <a:p>
            <a:pPr marL="0" lvl="0" indent="0" algn="ctr">
              <a:lnSpc>
                <a:spcPts val="5710"/>
              </a:lnSpc>
              <a:spcBef>
                <a:spcPts val="0"/>
              </a:spcBef>
              <a:defRPr/>
            </a:pPr>
            <a:r>
              <a:rPr lang="en-US" sz="4100" b="1">
                <a:solidFill>
                  <a:srgbClr val="FFFFFF"/>
                </a:solidFill>
                <a:latin typeface="Poppins Bold"/>
                <a:ea typeface="Poppins Bold"/>
                <a:cs typeface="Poppins Bold"/>
              </a:rPr>
              <a:t>3</a:t>
            </a:r>
            <a:endParaRPr/>
          </a:p>
        </p:txBody>
      </p:sp>
      <p:sp>
        <p:nvSpPr>
          <p:cNvPr id="1509135643" name="TextBox 24"/>
          <p:cNvSpPr txBox="1"/>
          <p:nvPr/>
        </p:nvSpPr>
        <p:spPr bwMode="auto">
          <a:xfrm rot="0">
            <a:off x="12735231" y="4623406"/>
            <a:ext cx="1104183" cy="742175"/>
          </a:xfrm>
          <a:prstGeom prst="rect">
            <a:avLst/>
          </a:prstGeom>
        </p:spPr>
        <p:txBody>
          <a:bodyPr lIns="0" tIns="0" rIns="0" bIns="0" rtlCol="0" anchor="t">
            <a:spAutoFit/>
          </a:bodyPr>
          <a:lstStyle/>
          <a:p>
            <a:pPr marL="0" lvl="0" indent="0" algn="ctr">
              <a:lnSpc>
                <a:spcPts val="5710"/>
              </a:lnSpc>
              <a:spcBef>
                <a:spcPts val="0"/>
              </a:spcBef>
              <a:defRPr/>
            </a:pPr>
            <a:r>
              <a:rPr lang="en-US" sz="4100" b="1">
                <a:solidFill>
                  <a:srgbClr val="FFFFFF"/>
                </a:solidFill>
                <a:latin typeface="Poppins Bold"/>
                <a:ea typeface="Poppins Bold"/>
                <a:cs typeface="Poppins Bold"/>
              </a:rPr>
              <a:t>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3586007" name="Freeform 2"/>
          <p:cNvSpPr/>
          <p:nvPr/>
        </p:nvSpPr>
        <p:spPr bwMode="auto">
          <a:xfrm rot="0" flipH="0" flipV="0">
            <a:off x="0" y="0"/>
            <a:ext cx="18288000" cy="10287000"/>
          </a:xfrm>
          <a:custGeom>
            <a:avLst/>
            <a:gdLst/>
            <a:ahLst/>
            <a:cxnLst/>
            <a:rect l="l" t="t" r="r" b="b"/>
            <a:pathLst>
              <a:path w="18288000" h="10287000" fill="norm" stroke="1" extrusionOk="0">
                <a:moveTo>
                  <a:pt x="0" y="0"/>
                </a:moveTo>
                <a:lnTo>
                  <a:pt x="18288000" y="0"/>
                </a:lnTo>
                <a:lnTo>
                  <a:pt x="18288000" y="10287000"/>
                </a:lnTo>
                <a:lnTo>
                  <a:pt x="0" y="10287000"/>
                </a:lnTo>
                <a:lnTo>
                  <a:pt x="0" y="0"/>
                </a:lnTo>
                <a:close/>
              </a:path>
            </a:pathLst>
          </a:custGeom>
          <a:blipFill rotWithShape="1">
            <a:blip r:embed="rId3"/>
            <a:stretch>
              <a:fillRect l="0" t="-38888" r="0" b="-38888"/>
            </a:stretch>
          </a:blipFill>
        </p:spPr>
      </p:sp>
      <p:grpSp>
        <p:nvGrpSpPr>
          <p:cNvPr id="1480309980" name="Group 3"/>
          <p:cNvGrpSpPr/>
          <p:nvPr/>
        </p:nvGrpSpPr>
        <p:grpSpPr bwMode="auto">
          <a:xfrm rot="0">
            <a:off x="0" y="0"/>
            <a:ext cx="3526526" cy="10287000"/>
            <a:chOff x="0" y="0"/>
            <a:chExt cx="928797" cy="2709333"/>
          </a:xfrm>
        </p:grpSpPr>
        <p:sp>
          <p:nvSpPr>
            <p:cNvPr id="4" name="Freeform 4"/>
            <p:cNvSpPr/>
            <p:nvPr/>
          </p:nvSpPr>
          <p:spPr bwMode="auto">
            <a:xfrm rot="0" flipH="0" flipV="0">
              <a:off x="0" y="0"/>
              <a:ext cx="928797" cy="2709333"/>
            </a:xfrm>
            <a:custGeom>
              <a:avLst/>
              <a:gdLst/>
              <a:ahLst/>
              <a:cxnLst/>
              <a:rect l="l" t="t" r="r" b="b"/>
              <a:pathLst>
                <a:path w="928797" h="2709333" fill="norm" stroke="1" extrusionOk="0">
                  <a:moveTo>
                    <a:pt x="0" y="0"/>
                  </a:moveTo>
                  <a:lnTo>
                    <a:pt x="928797" y="0"/>
                  </a:lnTo>
                  <a:lnTo>
                    <a:pt x="928797" y="2709333"/>
                  </a:lnTo>
                  <a:lnTo>
                    <a:pt x="0" y="2709333"/>
                  </a:lnTo>
                  <a:close/>
                </a:path>
              </a:pathLst>
            </a:custGeom>
            <a:solidFill>
              <a:srgbClr val="FFCB00"/>
            </a:solidFill>
          </p:spPr>
        </p:sp>
        <p:sp>
          <p:nvSpPr>
            <p:cNvPr id="5" name="TextBox 5"/>
            <p:cNvSpPr txBox="1"/>
            <p:nvPr/>
          </p:nvSpPr>
          <p:spPr bwMode="auto">
            <a:xfrm>
              <a:off x="0" y="-38100"/>
              <a:ext cx="928797" cy="2747433"/>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sp>
        <p:nvSpPr>
          <p:cNvPr id="1918851293" name="Freeform 6"/>
          <p:cNvSpPr/>
          <p:nvPr/>
        </p:nvSpPr>
        <p:spPr bwMode="auto">
          <a:xfrm rot="0" flipH="0" flipV="0">
            <a:off x="1478233" y="1695408"/>
            <a:ext cx="712343" cy="817610"/>
          </a:xfrm>
          <a:custGeom>
            <a:avLst/>
            <a:gdLst/>
            <a:ahLst/>
            <a:cxnLst/>
            <a:rect l="l" t="t" r="r" b="b"/>
            <a:pathLst>
              <a:path w="712343" h="817610" fill="norm" stroke="1" extrusionOk="0">
                <a:moveTo>
                  <a:pt x="0" y="0"/>
                </a:moveTo>
                <a:lnTo>
                  <a:pt x="712342" y="0"/>
                </a:lnTo>
                <a:lnTo>
                  <a:pt x="712342" y="817610"/>
                </a:lnTo>
                <a:lnTo>
                  <a:pt x="0" y="817610"/>
                </a:lnTo>
                <a:lnTo>
                  <a:pt x="0" y="0"/>
                </a:lnTo>
                <a:close/>
              </a:path>
            </a:pathLst>
          </a:custGeom>
          <a:blipFill rotWithShape="1">
            <a:blip r:embed="rId4"/>
            <a:stretch>
              <a:fillRect l="0" t="0" r="0" b="0"/>
            </a:stretch>
          </a:blipFill>
        </p:spPr>
      </p:sp>
      <p:sp>
        <p:nvSpPr>
          <p:cNvPr id="1791358646" name="Freeform 7"/>
          <p:cNvSpPr/>
          <p:nvPr/>
        </p:nvSpPr>
        <p:spPr bwMode="auto">
          <a:xfrm rot="0" flipH="0" flipV="0">
            <a:off x="4470962" y="8352318"/>
            <a:ext cx="905982" cy="905982"/>
          </a:xfrm>
          <a:custGeom>
            <a:avLst/>
            <a:gdLst/>
            <a:ahLst/>
            <a:cxnLst/>
            <a:rect l="l" t="t" r="r" b="b"/>
            <a:pathLst>
              <a:path w="905982" h="905982" fill="norm" stroke="1" extrusionOk="0">
                <a:moveTo>
                  <a:pt x="0" y="0"/>
                </a:moveTo>
                <a:lnTo>
                  <a:pt x="905982" y="0"/>
                </a:lnTo>
                <a:lnTo>
                  <a:pt x="905982" y="905982"/>
                </a:lnTo>
                <a:lnTo>
                  <a:pt x="0" y="905982"/>
                </a:lnTo>
                <a:lnTo>
                  <a:pt x="0" y="0"/>
                </a:lnTo>
                <a:close/>
              </a:path>
            </a:pathLst>
          </a:custGeom>
          <a:blipFill rotWithShape="1">
            <a:blip r:embed="rId5"/>
            <a:stretch>
              <a:fillRect l="0" t="0" r="0" b="0"/>
            </a:stretch>
          </a:blipFill>
        </p:spPr>
      </p:sp>
      <p:grpSp>
        <p:nvGrpSpPr>
          <p:cNvPr id="1668920277" name="Group 8"/>
          <p:cNvGrpSpPr/>
          <p:nvPr/>
        </p:nvGrpSpPr>
        <p:grpSpPr bwMode="auto">
          <a:xfrm rot="0">
            <a:off x="9439122" y="1028700"/>
            <a:ext cx="3682271" cy="3610053"/>
            <a:chOff x="0" y="0"/>
            <a:chExt cx="570480" cy="559292"/>
          </a:xfrm>
        </p:grpSpPr>
        <p:sp>
          <p:nvSpPr>
            <p:cNvPr id="9" name="Freeform 9"/>
            <p:cNvSpPr/>
            <p:nvPr/>
          </p:nvSpPr>
          <p:spPr bwMode="auto">
            <a:xfrm rot="0" flipH="0" flipV="0">
              <a:off x="0" y="0"/>
              <a:ext cx="570480" cy="559292"/>
            </a:xfrm>
            <a:custGeom>
              <a:avLst/>
              <a:gdLst/>
              <a:ahLst/>
              <a:cxnLst/>
              <a:rect l="l" t="t" r="r" b="b"/>
              <a:pathLst>
                <a:path w="570480" h="559292" fill="norm" stroke="1" extrusionOk="0">
                  <a:moveTo>
                    <a:pt x="0" y="0"/>
                  </a:moveTo>
                  <a:lnTo>
                    <a:pt x="570480" y="0"/>
                  </a:lnTo>
                  <a:lnTo>
                    <a:pt x="570480" y="559292"/>
                  </a:lnTo>
                  <a:lnTo>
                    <a:pt x="0" y="559292"/>
                  </a:lnTo>
                  <a:close/>
                </a:path>
              </a:pathLst>
            </a:custGeom>
            <a:blipFill rotWithShape="1">
              <a:blip r:embed="rId6"/>
              <a:stretch>
                <a:fillRect l="0" t="-1000" r="0" b="-1000"/>
              </a:stretch>
            </a:blipFill>
          </p:spPr>
        </p:sp>
      </p:grpSp>
      <p:grpSp>
        <p:nvGrpSpPr>
          <p:cNvPr id="1639898673" name="Group 10"/>
          <p:cNvGrpSpPr/>
          <p:nvPr/>
        </p:nvGrpSpPr>
        <p:grpSpPr bwMode="auto">
          <a:xfrm rot="0">
            <a:off x="9439122" y="5181600"/>
            <a:ext cx="3682271" cy="4076699"/>
            <a:chOff x="0" y="0"/>
            <a:chExt cx="570480" cy="631588"/>
          </a:xfrm>
        </p:grpSpPr>
        <p:sp>
          <p:nvSpPr>
            <p:cNvPr id="11" name="Freeform 11"/>
            <p:cNvSpPr/>
            <p:nvPr/>
          </p:nvSpPr>
          <p:spPr bwMode="auto">
            <a:xfrm rot="0" flipH="0" flipV="0">
              <a:off x="0" y="0"/>
              <a:ext cx="570480" cy="631588"/>
            </a:xfrm>
            <a:custGeom>
              <a:avLst/>
              <a:gdLst/>
              <a:ahLst/>
              <a:cxnLst/>
              <a:rect l="l" t="t" r="r" b="b"/>
              <a:pathLst>
                <a:path w="570480" h="631588" fill="norm" stroke="1" extrusionOk="0">
                  <a:moveTo>
                    <a:pt x="0" y="0"/>
                  </a:moveTo>
                  <a:lnTo>
                    <a:pt x="570480" y="0"/>
                  </a:lnTo>
                  <a:lnTo>
                    <a:pt x="570480" y="631588"/>
                  </a:lnTo>
                  <a:lnTo>
                    <a:pt x="0" y="631588"/>
                  </a:lnTo>
                  <a:close/>
                </a:path>
              </a:pathLst>
            </a:custGeom>
            <a:blipFill rotWithShape="1">
              <a:blip r:embed="rId7"/>
              <a:stretch>
                <a:fillRect l="-5355" t="0" r="-5355" b="0"/>
              </a:stretch>
            </a:blipFill>
          </p:spPr>
        </p:sp>
      </p:grpSp>
      <p:grpSp>
        <p:nvGrpSpPr>
          <p:cNvPr id="245090793" name="Group 12"/>
          <p:cNvGrpSpPr/>
          <p:nvPr/>
        </p:nvGrpSpPr>
        <p:grpSpPr bwMode="auto">
          <a:xfrm rot="0">
            <a:off x="13577029" y="1028700"/>
            <a:ext cx="3682271" cy="3610053"/>
            <a:chOff x="0" y="0"/>
            <a:chExt cx="570480" cy="559292"/>
          </a:xfrm>
        </p:grpSpPr>
        <p:sp>
          <p:nvSpPr>
            <p:cNvPr id="13" name="Freeform 13"/>
            <p:cNvSpPr/>
            <p:nvPr/>
          </p:nvSpPr>
          <p:spPr bwMode="auto">
            <a:xfrm rot="0" flipH="0" flipV="0">
              <a:off x="0" y="0"/>
              <a:ext cx="570480" cy="559292"/>
            </a:xfrm>
            <a:custGeom>
              <a:avLst/>
              <a:gdLst/>
              <a:ahLst/>
              <a:cxnLst/>
              <a:rect l="l" t="t" r="r" b="b"/>
              <a:pathLst>
                <a:path w="570480" h="559292" fill="norm" stroke="1" extrusionOk="0">
                  <a:moveTo>
                    <a:pt x="0" y="0"/>
                  </a:moveTo>
                  <a:lnTo>
                    <a:pt x="570480" y="0"/>
                  </a:lnTo>
                  <a:lnTo>
                    <a:pt x="570480" y="559292"/>
                  </a:lnTo>
                  <a:lnTo>
                    <a:pt x="0" y="559292"/>
                  </a:lnTo>
                  <a:close/>
                </a:path>
              </a:pathLst>
            </a:custGeom>
            <a:blipFill rotWithShape="1">
              <a:blip r:embed="rId8"/>
              <a:stretch>
                <a:fillRect l="0" t="-1000" r="0" b="-1000"/>
              </a:stretch>
            </a:blipFill>
          </p:spPr>
        </p:sp>
      </p:grpSp>
      <p:grpSp>
        <p:nvGrpSpPr>
          <p:cNvPr id="2087731337" name="Group 14"/>
          <p:cNvGrpSpPr/>
          <p:nvPr/>
        </p:nvGrpSpPr>
        <p:grpSpPr bwMode="auto">
          <a:xfrm rot="0">
            <a:off x="13577029" y="5181600"/>
            <a:ext cx="3682271" cy="4076699"/>
            <a:chOff x="0" y="0"/>
            <a:chExt cx="570480" cy="631588"/>
          </a:xfrm>
        </p:grpSpPr>
        <p:sp>
          <p:nvSpPr>
            <p:cNvPr id="15" name="Freeform 15"/>
            <p:cNvSpPr/>
            <p:nvPr/>
          </p:nvSpPr>
          <p:spPr bwMode="auto">
            <a:xfrm rot="0" flipH="0" flipV="0">
              <a:off x="0" y="0"/>
              <a:ext cx="570480" cy="631588"/>
            </a:xfrm>
            <a:custGeom>
              <a:avLst/>
              <a:gdLst/>
              <a:ahLst/>
              <a:cxnLst/>
              <a:rect l="l" t="t" r="r" b="b"/>
              <a:pathLst>
                <a:path w="570480" h="631588" fill="norm" stroke="1" extrusionOk="0">
                  <a:moveTo>
                    <a:pt x="0" y="0"/>
                  </a:moveTo>
                  <a:lnTo>
                    <a:pt x="570480" y="0"/>
                  </a:lnTo>
                  <a:lnTo>
                    <a:pt x="570480" y="631588"/>
                  </a:lnTo>
                  <a:lnTo>
                    <a:pt x="0" y="631588"/>
                  </a:lnTo>
                  <a:close/>
                </a:path>
              </a:pathLst>
            </a:custGeom>
            <a:blipFill rotWithShape="1">
              <a:blip r:embed="rId9"/>
              <a:stretch>
                <a:fillRect l="-5355" t="0" r="-5355" b="0"/>
              </a:stretch>
            </a:blipFill>
          </p:spPr>
        </p:sp>
      </p:grpSp>
      <p:sp>
        <p:nvSpPr>
          <p:cNvPr id="694454588" name="TextBox 16"/>
          <p:cNvSpPr txBox="1"/>
          <p:nvPr/>
        </p:nvSpPr>
        <p:spPr bwMode="auto">
          <a:xfrm rot="0">
            <a:off x="4470962" y="3000375"/>
            <a:ext cx="4025186" cy="3743325"/>
          </a:xfrm>
          <a:prstGeom prst="rect">
            <a:avLst/>
          </a:prstGeom>
        </p:spPr>
        <p:txBody>
          <a:bodyPr lIns="0" tIns="0" rIns="0" bIns="0" rtlCol="0" anchor="t">
            <a:spAutoFit/>
          </a:bodyPr>
          <a:lstStyle/>
          <a:p>
            <a:pPr marL="0" lvl="0" indent="0" algn="l">
              <a:lnSpc>
                <a:spcPts val="4200"/>
              </a:lnSpc>
              <a:spcBef>
                <a:spcPts val="0"/>
              </a:spcBef>
              <a:defRPr/>
            </a:pPr>
            <a:r>
              <a:rPr lang="en-US" sz="3000">
                <a:solidFill>
                  <a:srgbClr val="004AAD"/>
                </a:solidFill>
                <a:latin typeface="Poppins"/>
                <a:ea typeface="Poppins"/>
                <a:cs typeface="Poppins"/>
              </a:rPr>
              <a:t>The PEAS framework guides our AI agent design for Tic-Tac-Toe, defining how it perceives, acts, and succeeds in the game environment.</a:t>
            </a:r>
            <a:endParaRPr/>
          </a:p>
        </p:txBody>
      </p:sp>
      <p:sp>
        <p:nvSpPr>
          <p:cNvPr id="1747086516" name="TextBox 17"/>
          <p:cNvSpPr txBox="1"/>
          <p:nvPr/>
        </p:nvSpPr>
        <p:spPr bwMode="auto">
          <a:xfrm rot="0">
            <a:off x="4470962" y="1767681"/>
            <a:ext cx="3470563" cy="684054"/>
          </a:xfrm>
          <a:prstGeom prst="rect">
            <a:avLst/>
          </a:prstGeom>
        </p:spPr>
        <p:txBody>
          <a:bodyPr lIns="0" tIns="0" rIns="0" bIns="0" rtlCol="0" anchor="t">
            <a:spAutoFit/>
          </a:bodyPr>
          <a:lstStyle/>
          <a:p>
            <a:pPr marL="0" lvl="0" indent="0" algn="l">
              <a:lnSpc>
                <a:spcPts val="5346"/>
              </a:lnSpc>
              <a:spcBef>
                <a:spcPts val="0"/>
              </a:spcBef>
              <a:defRPr/>
            </a:pPr>
            <a:r>
              <a:rPr lang="en-US" sz="3800" b="1">
                <a:solidFill>
                  <a:srgbClr val="004AAD"/>
                </a:solidFill>
                <a:latin typeface="Poppins Bold"/>
                <a:ea typeface="Poppins Bold"/>
                <a:cs typeface="Poppins Bold"/>
              </a:rPr>
              <a:t>PEAS Analysis</a:t>
            </a:r>
            <a:endParaRPr/>
          </a:p>
        </p:txBody>
      </p:sp>
      <p:sp>
        <p:nvSpPr>
          <p:cNvPr id="1559287773" name="TextBox 18"/>
          <p:cNvSpPr txBox="1"/>
          <p:nvPr/>
        </p:nvSpPr>
        <p:spPr bwMode="auto">
          <a:xfrm rot="-5400000">
            <a:off x="-1271153" y="4241710"/>
            <a:ext cx="5783262" cy="1803580"/>
          </a:xfrm>
          <a:prstGeom prst="rect">
            <a:avLst/>
          </a:prstGeom>
        </p:spPr>
        <p:txBody>
          <a:bodyPr lIns="0" tIns="0" rIns="0" bIns="0" rtlCol="0" anchor="t">
            <a:spAutoFit/>
          </a:bodyPr>
          <a:lstStyle/>
          <a:p>
            <a:pPr marL="0" lvl="0" indent="0" algn="ctr">
              <a:lnSpc>
                <a:spcPts val="13990"/>
              </a:lnSpc>
              <a:spcBef>
                <a:spcPts val="0"/>
              </a:spcBef>
              <a:defRPr/>
            </a:pPr>
            <a:r>
              <a:rPr lang="en-US" sz="10000" b="1">
                <a:solidFill>
                  <a:srgbClr val="004AAD"/>
                </a:solidFill>
                <a:latin typeface="Poppins Bold"/>
                <a:ea typeface="Poppins Bold"/>
                <a:cs typeface="Poppins Bold"/>
              </a:rPr>
              <a:t>PEAS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126388" name="Freeform 2"/>
          <p:cNvSpPr/>
          <p:nvPr/>
        </p:nvSpPr>
        <p:spPr bwMode="auto">
          <a:xfrm rot="0" flipH="0" flipV="0">
            <a:off x="0" y="0"/>
            <a:ext cx="18288000" cy="10287000"/>
          </a:xfrm>
          <a:custGeom>
            <a:avLst/>
            <a:gdLst/>
            <a:ahLst/>
            <a:cxnLst/>
            <a:rect l="l" t="t" r="r" b="b"/>
            <a:pathLst>
              <a:path w="18288000" h="10287000" fill="norm" stroke="1" extrusionOk="0">
                <a:moveTo>
                  <a:pt x="0" y="0"/>
                </a:moveTo>
                <a:lnTo>
                  <a:pt x="18288000" y="0"/>
                </a:lnTo>
                <a:lnTo>
                  <a:pt x="18288000" y="10287000"/>
                </a:lnTo>
                <a:lnTo>
                  <a:pt x="0" y="10287000"/>
                </a:lnTo>
                <a:lnTo>
                  <a:pt x="0" y="0"/>
                </a:lnTo>
                <a:close/>
              </a:path>
            </a:pathLst>
          </a:custGeom>
          <a:blipFill rotWithShape="1">
            <a:blip r:embed="rId3"/>
            <a:stretch>
              <a:fillRect l="0" t="-666" r="0" b="-665"/>
            </a:stretch>
          </a:blipFill>
        </p:spPr>
      </p:sp>
      <p:grpSp>
        <p:nvGrpSpPr>
          <p:cNvPr id="2051271310" name="Group 3"/>
          <p:cNvGrpSpPr/>
          <p:nvPr/>
        </p:nvGrpSpPr>
        <p:grpSpPr bwMode="auto">
          <a:xfrm rot="0">
            <a:off x="14761474" y="0"/>
            <a:ext cx="3526526" cy="10287000"/>
            <a:chOff x="0" y="0"/>
            <a:chExt cx="928797" cy="2709333"/>
          </a:xfrm>
        </p:grpSpPr>
        <p:sp>
          <p:nvSpPr>
            <p:cNvPr id="4" name="Freeform 4"/>
            <p:cNvSpPr/>
            <p:nvPr/>
          </p:nvSpPr>
          <p:spPr bwMode="auto">
            <a:xfrm rot="0" flipH="0" flipV="0">
              <a:off x="0" y="0"/>
              <a:ext cx="928797" cy="2709333"/>
            </a:xfrm>
            <a:custGeom>
              <a:avLst/>
              <a:gdLst/>
              <a:ahLst/>
              <a:cxnLst/>
              <a:rect l="l" t="t" r="r" b="b"/>
              <a:pathLst>
                <a:path w="928797" h="2709333" fill="norm" stroke="1" extrusionOk="0">
                  <a:moveTo>
                    <a:pt x="0" y="0"/>
                  </a:moveTo>
                  <a:lnTo>
                    <a:pt x="928797" y="0"/>
                  </a:lnTo>
                  <a:lnTo>
                    <a:pt x="928797" y="2709333"/>
                  </a:lnTo>
                  <a:lnTo>
                    <a:pt x="0" y="2709333"/>
                  </a:lnTo>
                  <a:close/>
                </a:path>
              </a:pathLst>
            </a:custGeom>
            <a:solidFill>
              <a:srgbClr val="FFCB00"/>
            </a:solidFill>
          </p:spPr>
        </p:sp>
        <p:sp>
          <p:nvSpPr>
            <p:cNvPr id="5" name="TextBox 5"/>
            <p:cNvSpPr txBox="1"/>
            <p:nvPr/>
          </p:nvSpPr>
          <p:spPr bwMode="auto">
            <a:xfrm>
              <a:off x="0" y="-38100"/>
              <a:ext cx="928797" cy="2747433"/>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743214424" name="Group 6"/>
          <p:cNvGrpSpPr/>
          <p:nvPr/>
        </p:nvGrpSpPr>
        <p:grpSpPr bwMode="auto">
          <a:xfrm rot="0">
            <a:off x="12735231" y="3144441"/>
            <a:ext cx="1104183" cy="1126251"/>
            <a:chOff x="0" y="0"/>
            <a:chExt cx="290814" cy="296626"/>
          </a:xfrm>
        </p:grpSpPr>
        <p:sp>
          <p:nvSpPr>
            <p:cNvPr id="7" name="Freeform 7"/>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8" name="TextBox 8"/>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118508428" name="Group 9"/>
          <p:cNvGrpSpPr/>
          <p:nvPr/>
        </p:nvGrpSpPr>
        <p:grpSpPr bwMode="auto">
          <a:xfrm rot="0">
            <a:off x="12735231" y="6155451"/>
            <a:ext cx="1104183" cy="1126251"/>
            <a:chOff x="0" y="0"/>
            <a:chExt cx="290814" cy="296626"/>
          </a:xfrm>
        </p:grpSpPr>
        <p:sp>
          <p:nvSpPr>
            <p:cNvPr id="10" name="Freeform 10"/>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11" name="TextBox 11"/>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1067686426" name="Group 12"/>
          <p:cNvGrpSpPr/>
          <p:nvPr/>
        </p:nvGrpSpPr>
        <p:grpSpPr bwMode="auto">
          <a:xfrm rot="0">
            <a:off x="12735231" y="4648200"/>
            <a:ext cx="1104183" cy="1126251"/>
            <a:chOff x="0" y="0"/>
            <a:chExt cx="290814" cy="296626"/>
          </a:xfrm>
        </p:grpSpPr>
        <p:sp>
          <p:nvSpPr>
            <p:cNvPr id="13" name="Freeform 13"/>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14" name="TextBox 14"/>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sp>
        <p:nvSpPr>
          <p:cNvPr id="1098398289" name="Freeform 15"/>
          <p:cNvSpPr/>
          <p:nvPr/>
        </p:nvSpPr>
        <p:spPr bwMode="auto">
          <a:xfrm rot="0" flipH="0" flipV="0">
            <a:off x="16160040" y="1045703"/>
            <a:ext cx="671107" cy="773611"/>
          </a:xfrm>
          <a:custGeom>
            <a:avLst/>
            <a:gdLst/>
            <a:ahLst/>
            <a:cxnLst/>
            <a:rect l="l" t="t" r="r" b="b"/>
            <a:pathLst>
              <a:path w="671107" h="773611" fill="norm" stroke="1" extrusionOk="0">
                <a:moveTo>
                  <a:pt x="0" y="0"/>
                </a:moveTo>
                <a:lnTo>
                  <a:pt x="671107" y="0"/>
                </a:lnTo>
                <a:lnTo>
                  <a:pt x="671107" y="773611"/>
                </a:lnTo>
                <a:lnTo>
                  <a:pt x="0" y="773611"/>
                </a:lnTo>
                <a:lnTo>
                  <a:pt x="0" y="0"/>
                </a:lnTo>
                <a:close/>
              </a:path>
            </a:pathLst>
          </a:custGeom>
          <a:blipFill rotWithShape="1">
            <a:blip r:embed="rId4"/>
            <a:stretch>
              <a:fillRect l="0" t="0" r="0" b="0"/>
            </a:stretch>
          </a:blipFill>
        </p:spPr>
      </p:sp>
      <p:sp>
        <p:nvSpPr>
          <p:cNvPr id="191289454" name="TextBox 16"/>
          <p:cNvSpPr txBox="1"/>
          <p:nvPr/>
        </p:nvSpPr>
        <p:spPr bwMode="auto">
          <a:xfrm rot="0">
            <a:off x="10285534" y="1815306"/>
            <a:ext cx="3553880" cy="798810"/>
          </a:xfrm>
          <a:prstGeom prst="rect">
            <a:avLst/>
          </a:prstGeom>
        </p:spPr>
        <p:txBody>
          <a:bodyPr lIns="0" tIns="0" rIns="0" bIns="0" rtlCol="0" anchor="t">
            <a:spAutoFit/>
          </a:bodyPr>
          <a:lstStyle/>
          <a:p>
            <a:pPr marL="0" lvl="0" indent="0" algn="r">
              <a:lnSpc>
                <a:spcPts val="3221"/>
              </a:lnSpc>
              <a:spcBef>
                <a:spcPts val="0"/>
              </a:spcBef>
              <a:defRPr/>
            </a:pPr>
            <a:r>
              <a:rPr lang="en-US" sz="2300" b="1">
                <a:solidFill>
                  <a:srgbClr val="004AAD"/>
                </a:solidFill>
                <a:latin typeface="Poppins Bold"/>
                <a:ea typeface="Poppins Bold"/>
                <a:cs typeface="Poppins Bold"/>
              </a:rPr>
              <a:t>Environment Characteristics</a:t>
            </a:r>
            <a:endParaRPr/>
          </a:p>
        </p:txBody>
      </p:sp>
      <p:sp>
        <p:nvSpPr>
          <p:cNvPr id="131365682" name="TextBox 17"/>
          <p:cNvSpPr txBox="1"/>
          <p:nvPr/>
        </p:nvSpPr>
        <p:spPr bwMode="auto">
          <a:xfrm rot="-5400000">
            <a:off x="13158740" y="4735214"/>
            <a:ext cx="5783262" cy="816571"/>
          </a:xfrm>
          <a:prstGeom prst="rect">
            <a:avLst/>
          </a:prstGeom>
        </p:spPr>
        <p:txBody>
          <a:bodyPr lIns="0" tIns="0" rIns="0" bIns="0" rtlCol="0" anchor="t">
            <a:spAutoFit/>
          </a:bodyPr>
          <a:lstStyle/>
          <a:p>
            <a:pPr marL="0" lvl="0" indent="0" algn="ctr">
              <a:lnSpc>
                <a:spcPts val="6442"/>
              </a:lnSpc>
              <a:spcBef>
                <a:spcPts val="0"/>
              </a:spcBef>
              <a:defRPr/>
            </a:pPr>
            <a:r>
              <a:rPr lang="en-US" sz="4600" b="1">
                <a:solidFill>
                  <a:srgbClr val="004AAD"/>
                </a:solidFill>
                <a:latin typeface="Poppins Bold"/>
                <a:ea typeface="Poppins Bold"/>
                <a:cs typeface="Poppins Bold"/>
              </a:rPr>
              <a:t>ODESDA</a:t>
            </a:r>
            <a:endParaRPr/>
          </a:p>
        </p:txBody>
      </p:sp>
      <p:sp>
        <p:nvSpPr>
          <p:cNvPr id="1967837792" name="TextBox 18"/>
          <p:cNvSpPr txBox="1"/>
          <p:nvPr/>
        </p:nvSpPr>
        <p:spPr bwMode="auto">
          <a:xfrm rot="0">
            <a:off x="3772074" y="3123911"/>
            <a:ext cx="8498692" cy="676136"/>
          </a:xfrm>
          <a:prstGeom prst="rect">
            <a:avLst/>
          </a:prstGeom>
        </p:spPr>
        <p:txBody>
          <a:bodyPr lIns="0" tIns="0" rIns="0" bIns="0" rtlCol="0" anchor="t">
            <a:spAutoFit/>
          </a:bodyPr>
          <a:lstStyle/>
          <a:p>
            <a:pPr marL="0" lvl="0" indent="0" algn="r">
              <a:lnSpc>
                <a:spcPts val="2632"/>
              </a:lnSpc>
              <a:spcBef>
                <a:spcPts val="0"/>
              </a:spcBef>
              <a:defRPr/>
            </a:pPr>
            <a:r>
              <a:rPr lang="en-US" sz="1900">
                <a:solidFill>
                  <a:srgbClr val="004AAD"/>
                </a:solidFill>
                <a:latin typeface="Poppins"/>
                <a:ea typeface="Poppins"/>
                <a:cs typeface="Poppins"/>
              </a:rPr>
              <a:t>Observable: The game board is fully observable - all cells visible to the agent at all times.</a:t>
            </a:r>
            <a:endParaRPr/>
          </a:p>
        </p:txBody>
      </p:sp>
      <p:sp>
        <p:nvSpPr>
          <p:cNvPr id="1960358935" name="TextBox 19"/>
          <p:cNvSpPr txBox="1"/>
          <p:nvPr/>
        </p:nvSpPr>
        <p:spPr bwMode="auto">
          <a:xfrm rot="0">
            <a:off x="3772074" y="6134922"/>
            <a:ext cx="8498692" cy="676136"/>
          </a:xfrm>
          <a:prstGeom prst="rect">
            <a:avLst/>
          </a:prstGeom>
        </p:spPr>
        <p:txBody>
          <a:bodyPr lIns="0" tIns="0" rIns="0" bIns="0" rtlCol="0" anchor="t">
            <a:spAutoFit/>
          </a:bodyPr>
          <a:lstStyle/>
          <a:p>
            <a:pPr marL="0" lvl="0" indent="0" algn="r">
              <a:lnSpc>
                <a:spcPts val="2632"/>
              </a:lnSpc>
              <a:spcBef>
                <a:spcPts val="0"/>
              </a:spcBef>
              <a:defRPr/>
            </a:pPr>
            <a:r>
              <a:rPr lang="en-US" sz="1900">
                <a:solidFill>
                  <a:srgbClr val="004AAD"/>
                </a:solidFill>
                <a:latin typeface="Poppins"/>
                <a:ea typeface="Poppins"/>
                <a:cs typeface="Poppins"/>
              </a:rPr>
              <a:t>Episodic: Sequential - each move depends on previous game states and affects future decisions.</a:t>
            </a:r>
            <a:endParaRPr/>
          </a:p>
        </p:txBody>
      </p:sp>
      <p:sp>
        <p:nvSpPr>
          <p:cNvPr id="1093251884" name="Freeform 20"/>
          <p:cNvSpPr/>
          <p:nvPr/>
        </p:nvSpPr>
        <p:spPr bwMode="auto">
          <a:xfrm rot="0" flipH="0" flipV="0">
            <a:off x="12933432" y="8352318"/>
            <a:ext cx="905982" cy="905982"/>
          </a:xfrm>
          <a:custGeom>
            <a:avLst/>
            <a:gdLst/>
            <a:ahLst/>
            <a:cxnLst/>
            <a:rect l="l" t="t" r="r" b="b"/>
            <a:pathLst>
              <a:path w="905982" h="905982" fill="norm" stroke="1" extrusionOk="0">
                <a:moveTo>
                  <a:pt x="0" y="0"/>
                </a:moveTo>
                <a:lnTo>
                  <a:pt x="905982" y="0"/>
                </a:lnTo>
                <a:lnTo>
                  <a:pt x="905982" y="905982"/>
                </a:lnTo>
                <a:lnTo>
                  <a:pt x="0" y="905982"/>
                </a:lnTo>
                <a:lnTo>
                  <a:pt x="0" y="0"/>
                </a:lnTo>
                <a:close/>
              </a:path>
            </a:pathLst>
          </a:custGeom>
          <a:blipFill rotWithShape="1">
            <a:blip r:embed="rId5"/>
            <a:stretch>
              <a:fillRect l="0" t="0" r="0" b="0"/>
            </a:stretch>
          </a:blipFill>
        </p:spPr>
      </p:sp>
      <p:sp>
        <p:nvSpPr>
          <p:cNvPr id="454932006" name="TextBox 21"/>
          <p:cNvSpPr txBox="1"/>
          <p:nvPr/>
        </p:nvSpPr>
        <p:spPr bwMode="auto">
          <a:xfrm rot="0">
            <a:off x="3443425" y="4627671"/>
            <a:ext cx="8827341" cy="676136"/>
          </a:xfrm>
          <a:prstGeom prst="rect">
            <a:avLst/>
          </a:prstGeom>
        </p:spPr>
        <p:txBody>
          <a:bodyPr lIns="0" tIns="0" rIns="0" bIns="0" rtlCol="0" anchor="t">
            <a:spAutoFit/>
          </a:bodyPr>
          <a:lstStyle/>
          <a:p>
            <a:pPr marL="0" lvl="0" indent="0" algn="r">
              <a:lnSpc>
                <a:spcPts val="2632"/>
              </a:lnSpc>
              <a:spcBef>
                <a:spcPts val="0"/>
              </a:spcBef>
              <a:defRPr/>
            </a:pPr>
            <a:r>
              <a:rPr lang="en-US" sz="1900">
                <a:solidFill>
                  <a:srgbClr val="004AAD"/>
                </a:solidFill>
                <a:latin typeface="Poppins"/>
                <a:ea typeface="Poppins"/>
                <a:cs typeface="Poppins"/>
              </a:rPr>
              <a:t>Deterministic: Every action has a predictable outcome - placing X or O in a cell is certain.</a:t>
            </a:r>
            <a:endParaRPr/>
          </a:p>
        </p:txBody>
      </p:sp>
      <p:sp>
        <p:nvSpPr>
          <p:cNvPr id="1612843648" name="TextBox 22"/>
          <p:cNvSpPr txBox="1"/>
          <p:nvPr/>
        </p:nvSpPr>
        <p:spPr bwMode="auto">
          <a:xfrm rot="0">
            <a:off x="12735231" y="3157746"/>
            <a:ext cx="1104183" cy="509573"/>
          </a:xfrm>
          <a:prstGeom prst="rect">
            <a:avLst/>
          </a:prstGeom>
        </p:spPr>
        <p:txBody>
          <a:bodyPr lIns="0" tIns="0" rIns="0" bIns="0" rtlCol="0" anchor="t">
            <a:spAutoFit/>
          </a:bodyPr>
          <a:lstStyle/>
          <a:p>
            <a:pPr marL="0" lvl="0" indent="0" algn="ctr">
              <a:lnSpc>
                <a:spcPts val="3924"/>
              </a:lnSpc>
              <a:spcBef>
                <a:spcPts val="0"/>
              </a:spcBef>
              <a:defRPr/>
            </a:pPr>
            <a:r>
              <a:rPr lang="en-US" sz="2800" b="1">
                <a:solidFill>
                  <a:srgbClr val="FFFFFF"/>
                </a:solidFill>
                <a:latin typeface="Poppins Bold"/>
                <a:ea typeface="Poppins Bold"/>
                <a:cs typeface="Poppins Bold"/>
              </a:rPr>
              <a:t>1</a:t>
            </a:r>
            <a:endParaRPr/>
          </a:p>
        </p:txBody>
      </p:sp>
      <p:sp>
        <p:nvSpPr>
          <p:cNvPr id="1437740312" name="TextBox 23"/>
          <p:cNvSpPr txBox="1"/>
          <p:nvPr/>
        </p:nvSpPr>
        <p:spPr bwMode="auto">
          <a:xfrm rot="0">
            <a:off x="12735231" y="6168757"/>
            <a:ext cx="1104183" cy="509573"/>
          </a:xfrm>
          <a:prstGeom prst="rect">
            <a:avLst/>
          </a:prstGeom>
        </p:spPr>
        <p:txBody>
          <a:bodyPr lIns="0" tIns="0" rIns="0" bIns="0" rtlCol="0" anchor="t">
            <a:spAutoFit/>
          </a:bodyPr>
          <a:lstStyle/>
          <a:p>
            <a:pPr marL="0" lvl="0" indent="0" algn="ctr">
              <a:lnSpc>
                <a:spcPts val="3924"/>
              </a:lnSpc>
              <a:spcBef>
                <a:spcPts val="0"/>
              </a:spcBef>
              <a:defRPr/>
            </a:pPr>
            <a:r>
              <a:rPr lang="en-US" sz="2800" b="1">
                <a:solidFill>
                  <a:srgbClr val="FFFFFF"/>
                </a:solidFill>
                <a:latin typeface="Poppins Bold"/>
                <a:ea typeface="Poppins Bold"/>
                <a:cs typeface="Poppins Bold"/>
              </a:rPr>
              <a:t>3</a:t>
            </a:r>
            <a:endParaRPr/>
          </a:p>
        </p:txBody>
      </p:sp>
      <p:sp>
        <p:nvSpPr>
          <p:cNvPr id="1594014700" name="TextBox 24"/>
          <p:cNvSpPr txBox="1"/>
          <p:nvPr/>
        </p:nvSpPr>
        <p:spPr bwMode="auto">
          <a:xfrm rot="0">
            <a:off x="12735231" y="4661506"/>
            <a:ext cx="1104183" cy="509573"/>
          </a:xfrm>
          <a:prstGeom prst="rect">
            <a:avLst/>
          </a:prstGeom>
        </p:spPr>
        <p:txBody>
          <a:bodyPr lIns="0" tIns="0" rIns="0" bIns="0" rtlCol="0" anchor="t">
            <a:spAutoFit/>
          </a:bodyPr>
          <a:lstStyle/>
          <a:p>
            <a:pPr marL="0" lvl="0" indent="0" algn="ctr">
              <a:lnSpc>
                <a:spcPts val="3924"/>
              </a:lnSpc>
              <a:spcBef>
                <a:spcPts val="0"/>
              </a:spcBef>
              <a:defRPr/>
            </a:pPr>
            <a:r>
              <a:rPr lang="en-US" sz="2800" b="1">
                <a:solidFill>
                  <a:srgbClr val="FFFFFF"/>
                </a:solidFill>
                <a:latin typeface="Poppins Bold"/>
                <a:ea typeface="Poppins Bold"/>
                <a:cs typeface="Poppins Bold"/>
              </a:rPr>
              <a:t>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0879650" name="Freeform 2"/>
          <p:cNvSpPr/>
          <p:nvPr/>
        </p:nvSpPr>
        <p:spPr bwMode="auto">
          <a:xfrm rot="0" flipH="0" flipV="0">
            <a:off x="0" y="0"/>
            <a:ext cx="18288000" cy="10287000"/>
          </a:xfrm>
          <a:custGeom>
            <a:avLst/>
            <a:gdLst/>
            <a:ahLst/>
            <a:cxnLst/>
            <a:rect l="l" t="t" r="r" b="b"/>
            <a:pathLst>
              <a:path w="18288000" h="10287000" fill="norm" stroke="1" extrusionOk="0">
                <a:moveTo>
                  <a:pt x="0" y="0"/>
                </a:moveTo>
                <a:lnTo>
                  <a:pt x="18288000" y="0"/>
                </a:lnTo>
                <a:lnTo>
                  <a:pt x="18288000" y="10287000"/>
                </a:lnTo>
                <a:lnTo>
                  <a:pt x="0" y="10287000"/>
                </a:lnTo>
                <a:lnTo>
                  <a:pt x="0" y="0"/>
                </a:lnTo>
                <a:close/>
              </a:path>
            </a:pathLst>
          </a:custGeom>
          <a:blipFill rotWithShape="1">
            <a:blip r:embed="rId3"/>
            <a:stretch>
              <a:fillRect l="0" t="-38888" r="0" b="-38888"/>
            </a:stretch>
          </a:blipFill>
        </p:spPr>
      </p:sp>
      <p:grpSp>
        <p:nvGrpSpPr>
          <p:cNvPr id="1459702980" name="Group 3"/>
          <p:cNvGrpSpPr/>
          <p:nvPr/>
        </p:nvGrpSpPr>
        <p:grpSpPr bwMode="auto">
          <a:xfrm rot="0">
            <a:off x="14761474" y="0"/>
            <a:ext cx="3526526" cy="10287000"/>
            <a:chOff x="0" y="0"/>
            <a:chExt cx="928797" cy="2709333"/>
          </a:xfrm>
        </p:grpSpPr>
        <p:sp>
          <p:nvSpPr>
            <p:cNvPr id="4" name="Freeform 4"/>
            <p:cNvSpPr/>
            <p:nvPr/>
          </p:nvSpPr>
          <p:spPr bwMode="auto">
            <a:xfrm rot="0" flipH="0" flipV="0">
              <a:off x="0" y="0"/>
              <a:ext cx="928797" cy="2709333"/>
            </a:xfrm>
            <a:custGeom>
              <a:avLst/>
              <a:gdLst/>
              <a:ahLst/>
              <a:cxnLst/>
              <a:rect l="l" t="t" r="r" b="b"/>
              <a:pathLst>
                <a:path w="928797" h="2709333" fill="norm" stroke="1" extrusionOk="0">
                  <a:moveTo>
                    <a:pt x="0" y="0"/>
                  </a:moveTo>
                  <a:lnTo>
                    <a:pt x="928797" y="0"/>
                  </a:lnTo>
                  <a:lnTo>
                    <a:pt x="928797" y="2709333"/>
                  </a:lnTo>
                  <a:lnTo>
                    <a:pt x="0" y="2709333"/>
                  </a:lnTo>
                  <a:close/>
                </a:path>
              </a:pathLst>
            </a:custGeom>
            <a:solidFill>
              <a:srgbClr val="FFCB00"/>
            </a:solidFill>
          </p:spPr>
        </p:sp>
        <p:sp>
          <p:nvSpPr>
            <p:cNvPr id="5" name="TextBox 5"/>
            <p:cNvSpPr txBox="1"/>
            <p:nvPr/>
          </p:nvSpPr>
          <p:spPr bwMode="auto">
            <a:xfrm>
              <a:off x="0" y="-38100"/>
              <a:ext cx="928797" cy="2747433"/>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1227190529" name="Group 6"/>
          <p:cNvGrpSpPr/>
          <p:nvPr/>
        </p:nvGrpSpPr>
        <p:grpSpPr bwMode="auto">
          <a:xfrm rot="0">
            <a:off x="12735231" y="3144441"/>
            <a:ext cx="1104183" cy="1126251"/>
            <a:chOff x="0" y="0"/>
            <a:chExt cx="290814" cy="296626"/>
          </a:xfrm>
        </p:grpSpPr>
        <p:sp>
          <p:nvSpPr>
            <p:cNvPr id="7" name="Freeform 7"/>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8" name="TextBox 8"/>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799259770" name="Group 9"/>
          <p:cNvGrpSpPr/>
          <p:nvPr/>
        </p:nvGrpSpPr>
        <p:grpSpPr bwMode="auto">
          <a:xfrm rot="0">
            <a:off x="12735231" y="6155451"/>
            <a:ext cx="1104183" cy="1126251"/>
            <a:chOff x="0" y="0"/>
            <a:chExt cx="290814" cy="296626"/>
          </a:xfrm>
        </p:grpSpPr>
        <p:sp>
          <p:nvSpPr>
            <p:cNvPr id="10" name="Freeform 10"/>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11" name="TextBox 11"/>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1620078049" name="Group 12"/>
          <p:cNvGrpSpPr/>
          <p:nvPr/>
        </p:nvGrpSpPr>
        <p:grpSpPr bwMode="auto">
          <a:xfrm rot="0">
            <a:off x="12735231" y="4648200"/>
            <a:ext cx="1104183" cy="1126251"/>
            <a:chOff x="0" y="0"/>
            <a:chExt cx="290814" cy="296626"/>
          </a:xfrm>
        </p:grpSpPr>
        <p:sp>
          <p:nvSpPr>
            <p:cNvPr id="13" name="Freeform 13"/>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14" name="TextBox 14"/>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sp>
        <p:nvSpPr>
          <p:cNvPr id="1296484717" name="Freeform 15"/>
          <p:cNvSpPr/>
          <p:nvPr/>
        </p:nvSpPr>
        <p:spPr bwMode="auto">
          <a:xfrm rot="0" flipH="0" flipV="0">
            <a:off x="16107293" y="1030796"/>
            <a:ext cx="820273" cy="817018"/>
          </a:xfrm>
          <a:custGeom>
            <a:avLst/>
            <a:gdLst/>
            <a:ahLst/>
            <a:cxnLst/>
            <a:rect l="l" t="t" r="r" b="b"/>
            <a:pathLst>
              <a:path w="820273" h="817018" fill="norm" stroke="1" extrusionOk="0">
                <a:moveTo>
                  <a:pt x="0" y="0"/>
                </a:moveTo>
                <a:lnTo>
                  <a:pt x="820274" y="0"/>
                </a:lnTo>
                <a:lnTo>
                  <a:pt x="820274" y="817018"/>
                </a:lnTo>
                <a:lnTo>
                  <a:pt x="0" y="817018"/>
                </a:lnTo>
                <a:lnTo>
                  <a:pt x="0" y="0"/>
                </a:lnTo>
                <a:close/>
              </a:path>
            </a:pathLst>
          </a:custGeom>
          <a:blipFill rotWithShape="1">
            <a:blip r:embed="rId4"/>
            <a:stretch>
              <a:fillRect l="0" t="0" r="0" b="0"/>
            </a:stretch>
          </a:blipFill>
        </p:spPr>
      </p:sp>
      <p:sp>
        <p:nvSpPr>
          <p:cNvPr id="1489992542" name="TextBox 16"/>
          <p:cNvSpPr txBox="1"/>
          <p:nvPr/>
        </p:nvSpPr>
        <p:spPr bwMode="auto">
          <a:xfrm rot="0">
            <a:off x="10285534" y="1815306"/>
            <a:ext cx="3553880" cy="798810"/>
          </a:xfrm>
          <a:prstGeom prst="rect">
            <a:avLst/>
          </a:prstGeom>
        </p:spPr>
        <p:txBody>
          <a:bodyPr lIns="0" tIns="0" rIns="0" bIns="0" rtlCol="0" anchor="t">
            <a:spAutoFit/>
          </a:bodyPr>
          <a:lstStyle/>
          <a:p>
            <a:pPr marL="0" lvl="0" indent="0" algn="r">
              <a:lnSpc>
                <a:spcPts val="3221"/>
              </a:lnSpc>
              <a:spcBef>
                <a:spcPts val="0"/>
              </a:spcBef>
              <a:defRPr/>
            </a:pPr>
            <a:r>
              <a:rPr lang="en-US" sz="2300" b="1">
                <a:solidFill>
                  <a:srgbClr val="004AAD"/>
                </a:solidFill>
                <a:latin typeface="Poppins Bold"/>
                <a:ea typeface="Poppins Bold"/>
                <a:cs typeface="Poppins Bold"/>
              </a:rPr>
              <a:t>Environment Characteristics</a:t>
            </a:r>
            <a:endParaRPr/>
          </a:p>
        </p:txBody>
      </p:sp>
      <p:sp>
        <p:nvSpPr>
          <p:cNvPr id="816809774" name="TextBox 17"/>
          <p:cNvSpPr txBox="1"/>
          <p:nvPr/>
        </p:nvSpPr>
        <p:spPr bwMode="auto">
          <a:xfrm rot="-5400000">
            <a:off x="13158740" y="4735214"/>
            <a:ext cx="5783262" cy="816571"/>
          </a:xfrm>
          <a:prstGeom prst="rect">
            <a:avLst/>
          </a:prstGeom>
        </p:spPr>
        <p:txBody>
          <a:bodyPr lIns="0" tIns="0" rIns="0" bIns="0" rtlCol="0" anchor="t">
            <a:spAutoFit/>
          </a:bodyPr>
          <a:lstStyle/>
          <a:p>
            <a:pPr marL="0" lvl="0" indent="0" algn="ctr">
              <a:lnSpc>
                <a:spcPts val="6442"/>
              </a:lnSpc>
              <a:spcBef>
                <a:spcPts val="0"/>
              </a:spcBef>
              <a:defRPr/>
            </a:pPr>
            <a:r>
              <a:rPr lang="en-US" sz="4600" b="1">
                <a:solidFill>
                  <a:srgbClr val="004AAD"/>
                </a:solidFill>
                <a:latin typeface="Poppins Bold"/>
                <a:ea typeface="Poppins Bold"/>
                <a:cs typeface="Poppins Bold"/>
              </a:rPr>
              <a:t>ODESDA</a:t>
            </a:r>
            <a:endParaRPr/>
          </a:p>
        </p:txBody>
      </p:sp>
      <p:sp>
        <p:nvSpPr>
          <p:cNvPr id="1992936199" name="TextBox 18"/>
          <p:cNvSpPr txBox="1"/>
          <p:nvPr/>
        </p:nvSpPr>
        <p:spPr bwMode="auto">
          <a:xfrm rot="0">
            <a:off x="3772074" y="3123911"/>
            <a:ext cx="8498692" cy="676148"/>
          </a:xfrm>
          <a:prstGeom prst="rect">
            <a:avLst/>
          </a:prstGeom>
        </p:spPr>
        <p:txBody>
          <a:bodyPr lIns="0" tIns="0" rIns="0" bIns="0" rtlCol="0" anchor="t">
            <a:spAutoFit/>
          </a:bodyPr>
          <a:lstStyle/>
          <a:p>
            <a:pPr marL="0" lvl="0" indent="0" algn="r">
              <a:lnSpc>
                <a:spcPts val="2632"/>
              </a:lnSpc>
              <a:spcBef>
                <a:spcPts val="0"/>
              </a:spcBef>
              <a:defRPr/>
            </a:pPr>
            <a:r>
              <a:rPr lang="en-US" sz="1900">
                <a:solidFill>
                  <a:srgbClr val="004AAD"/>
                </a:solidFill>
                <a:latin typeface="Poppins"/>
                <a:ea typeface="Poppins"/>
                <a:cs typeface="Poppins"/>
              </a:rPr>
              <a:t>Static: The board state does not change while the agent is deciding its move.</a:t>
            </a:r>
            <a:endParaRPr/>
          </a:p>
        </p:txBody>
      </p:sp>
      <p:sp>
        <p:nvSpPr>
          <p:cNvPr id="858432392" name="TextBox 19"/>
          <p:cNvSpPr txBox="1"/>
          <p:nvPr/>
        </p:nvSpPr>
        <p:spPr bwMode="auto">
          <a:xfrm rot="0">
            <a:off x="3772074" y="6134922"/>
            <a:ext cx="8498692" cy="342761"/>
          </a:xfrm>
          <a:prstGeom prst="rect">
            <a:avLst/>
          </a:prstGeom>
        </p:spPr>
        <p:txBody>
          <a:bodyPr lIns="0" tIns="0" rIns="0" bIns="0" rtlCol="0" anchor="t">
            <a:spAutoFit/>
          </a:bodyPr>
          <a:lstStyle/>
          <a:p>
            <a:pPr marL="0" lvl="0" indent="0" algn="r">
              <a:lnSpc>
                <a:spcPts val="2632"/>
              </a:lnSpc>
              <a:spcBef>
                <a:spcPts val="0"/>
              </a:spcBef>
              <a:defRPr/>
            </a:pPr>
            <a:r>
              <a:rPr lang="en-US" sz="1900">
                <a:solidFill>
                  <a:srgbClr val="004AAD"/>
                </a:solidFill>
                <a:latin typeface="Poppins"/>
                <a:ea typeface="Poppins"/>
                <a:cs typeface="Poppins"/>
              </a:rPr>
              <a:t>Multi-Agent: Two players (X and O) compete against each other.</a:t>
            </a:r>
            <a:endParaRPr/>
          </a:p>
        </p:txBody>
      </p:sp>
      <p:sp>
        <p:nvSpPr>
          <p:cNvPr id="374535740" name="Freeform 20"/>
          <p:cNvSpPr/>
          <p:nvPr/>
        </p:nvSpPr>
        <p:spPr bwMode="auto">
          <a:xfrm rot="0" flipH="0" flipV="0">
            <a:off x="12933432" y="8352318"/>
            <a:ext cx="905982" cy="905982"/>
          </a:xfrm>
          <a:custGeom>
            <a:avLst/>
            <a:gdLst/>
            <a:ahLst/>
            <a:cxnLst/>
            <a:rect l="l" t="t" r="r" b="b"/>
            <a:pathLst>
              <a:path w="905982" h="905982" fill="norm" stroke="1" extrusionOk="0">
                <a:moveTo>
                  <a:pt x="0" y="0"/>
                </a:moveTo>
                <a:lnTo>
                  <a:pt x="905982" y="0"/>
                </a:lnTo>
                <a:lnTo>
                  <a:pt x="905982" y="905982"/>
                </a:lnTo>
                <a:lnTo>
                  <a:pt x="0" y="905982"/>
                </a:lnTo>
                <a:lnTo>
                  <a:pt x="0" y="0"/>
                </a:lnTo>
                <a:close/>
              </a:path>
            </a:pathLst>
          </a:custGeom>
          <a:blipFill rotWithShape="1">
            <a:blip r:embed="rId5"/>
            <a:stretch>
              <a:fillRect l="0" t="0" r="0" b="0"/>
            </a:stretch>
          </a:blipFill>
        </p:spPr>
      </p:sp>
      <p:sp>
        <p:nvSpPr>
          <p:cNvPr id="1482403" name="TextBox 21"/>
          <p:cNvSpPr txBox="1"/>
          <p:nvPr/>
        </p:nvSpPr>
        <p:spPr bwMode="auto">
          <a:xfrm rot="0">
            <a:off x="3443425" y="4627671"/>
            <a:ext cx="8827341" cy="342773"/>
          </a:xfrm>
          <a:prstGeom prst="rect">
            <a:avLst/>
          </a:prstGeom>
        </p:spPr>
        <p:txBody>
          <a:bodyPr lIns="0" tIns="0" rIns="0" bIns="0" rtlCol="0" anchor="t">
            <a:spAutoFit/>
          </a:bodyPr>
          <a:lstStyle/>
          <a:p>
            <a:pPr marL="0" lvl="0" indent="0" algn="r">
              <a:lnSpc>
                <a:spcPts val="2632"/>
              </a:lnSpc>
              <a:spcBef>
                <a:spcPts val="0"/>
              </a:spcBef>
              <a:defRPr/>
            </a:pPr>
            <a:r>
              <a:rPr lang="en-US" sz="1900">
                <a:solidFill>
                  <a:srgbClr val="004AAD"/>
                </a:solidFill>
                <a:latin typeface="Poppins"/>
                <a:ea typeface="Poppins"/>
                <a:cs typeface="Poppins"/>
              </a:rPr>
              <a:t>Discrete: Finite number of board states and possible actions available.</a:t>
            </a:r>
            <a:endParaRPr/>
          </a:p>
        </p:txBody>
      </p:sp>
      <p:sp>
        <p:nvSpPr>
          <p:cNvPr id="1871625659" name="TextBox 22"/>
          <p:cNvSpPr txBox="1"/>
          <p:nvPr/>
        </p:nvSpPr>
        <p:spPr bwMode="auto">
          <a:xfrm rot="0">
            <a:off x="12735231" y="3157746"/>
            <a:ext cx="1104183" cy="509573"/>
          </a:xfrm>
          <a:prstGeom prst="rect">
            <a:avLst/>
          </a:prstGeom>
        </p:spPr>
        <p:txBody>
          <a:bodyPr lIns="0" tIns="0" rIns="0" bIns="0" rtlCol="0" anchor="t">
            <a:spAutoFit/>
          </a:bodyPr>
          <a:lstStyle/>
          <a:p>
            <a:pPr marL="0" lvl="0" indent="0" algn="ctr">
              <a:lnSpc>
                <a:spcPts val="3924"/>
              </a:lnSpc>
              <a:spcBef>
                <a:spcPts val="0"/>
              </a:spcBef>
              <a:defRPr/>
            </a:pPr>
            <a:r>
              <a:rPr lang="en-US" sz="2800" b="1">
                <a:solidFill>
                  <a:srgbClr val="FFFFFF"/>
                </a:solidFill>
                <a:latin typeface="Poppins Bold"/>
                <a:ea typeface="Poppins Bold"/>
                <a:cs typeface="Poppins Bold"/>
              </a:rPr>
              <a:t>1</a:t>
            </a:r>
            <a:endParaRPr/>
          </a:p>
        </p:txBody>
      </p:sp>
      <p:sp>
        <p:nvSpPr>
          <p:cNvPr id="1925526785" name="TextBox 23"/>
          <p:cNvSpPr txBox="1"/>
          <p:nvPr/>
        </p:nvSpPr>
        <p:spPr bwMode="auto">
          <a:xfrm rot="0">
            <a:off x="12735231" y="6168757"/>
            <a:ext cx="1104183" cy="509573"/>
          </a:xfrm>
          <a:prstGeom prst="rect">
            <a:avLst/>
          </a:prstGeom>
        </p:spPr>
        <p:txBody>
          <a:bodyPr lIns="0" tIns="0" rIns="0" bIns="0" rtlCol="0" anchor="t">
            <a:spAutoFit/>
          </a:bodyPr>
          <a:lstStyle/>
          <a:p>
            <a:pPr marL="0" lvl="0" indent="0" algn="ctr">
              <a:lnSpc>
                <a:spcPts val="3924"/>
              </a:lnSpc>
              <a:spcBef>
                <a:spcPts val="0"/>
              </a:spcBef>
              <a:defRPr/>
            </a:pPr>
            <a:r>
              <a:rPr lang="en-US" sz="2800" b="1">
                <a:solidFill>
                  <a:srgbClr val="FFFFFF"/>
                </a:solidFill>
                <a:latin typeface="Poppins Bold"/>
                <a:ea typeface="Poppins Bold"/>
                <a:cs typeface="Poppins Bold"/>
              </a:rPr>
              <a:t>3</a:t>
            </a:r>
            <a:endParaRPr/>
          </a:p>
        </p:txBody>
      </p:sp>
      <p:sp>
        <p:nvSpPr>
          <p:cNvPr id="937413791" name="TextBox 24"/>
          <p:cNvSpPr txBox="1"/>
          <p:nvPr/>
        </p:nvSpPr>
        <p:spPr bwMode="auto">
          <a:xfrm rot="0">
            <a:off x="12735231" y="4661506"/>
            <a:ext cx="1104183" cy="509573"/>
          </a:xfrm>
          <a:prstGeom prst="rect">
            <a:avLst/>
          </a:prstGeom>
        </p:spPr>
        <p:txBody>
          <a:bodyPr lIns="0" tIns="0" rIns="0" bIns="0" rtlCol="0" anchor="t">
            <a:spAutoFit/>
          </a:bodyPr>
          <a:lstStyle/>
          <a:p>
            <a:pPr marL="0" lvl="0" indent="0" algn="ctr">
              <a:lnSpc>
                <a:spcPts val="3924"/>
              </a:lnSpc>
              <a:spcBef>
                <a:spcPts val="0"/>
              </a:spcBef>
              <a:defRPr/>
            </a:pPr>
            <a:r>
              <a:rPr lang="en-US" sz="2800" b="1">
                <a:solidFill>
                  <a:srgbClr val="FFFFFF"/>
                </a:solidFill>
                <a:latin typeface="Poppins Bold"/>
                <a:ea typeface="Poppins Bold"/>
                <a:cs typeface="Poppins Bold"/>
              </a:rPr>
              <a:t>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3853541" name="Freeform 2"/>
          <p:cNvSpPr/>
          <p:nvPr/>
        </p:nvSpPr>
        <p:spPr bwMode="auto">
          <a:xfrm rot="0" flipH="0" flipV="0">
            <a:off x="0" y="0"/>
            <a:ext cx="18288000" cy="10287000"/>
          </a:xfrm>
          <a:custGeom>
            <a:avLst/>
            <a:gdLst/>
            <a:ahLst/>
            <a:cxnLst/>
            <a:rect l="l" t="t" r="r" b="b"/>
            <a:pathLst>
              <a:path w="18288000" h="10287000" fill="norm" stroke="1" extrusionOk="0">
                <a:moveTo>
                  <a:pt x="0" y="0"/>
                </a:moveTo>
                <a:lnTo>
                  <a:pt x="18288000" y="0"/>
                </a:lnTo>
                <a:lnTo>
                  <a:pt x="18288000" y="10287000"/>
                </a:lnTo>
                <a:lnTo>
                  <a:pt x="0" y="10287000"/>
                </a:lnTo>
                <a:lnTo>
                  <a:pt x="0" y="0"/>
                </a:lnTo>
                <a:close/>
              </a:path>
            </a:pathLst>
          </a:custGeom>
          <a:blipFill rotWithShape="1">
            <a:blip r:embed="rId3"/>
            <a:stretch>
              <a:fillRect l="0" t="-38888" r="0" b="-38888"/>
            </a:stretch>
          </a:blipFill>
        </p:spPr>
      </p:sp>
      <p:grpSp>
        <p:nvGrpSpPr>
          <p:cNvPr id="900653746" name="Group 3"/>
          <p:cNvGrpSpPr/>
          <p:nvPr/>
        </p:nvGrpSpPr>
        <p:grpSpPr bwMode="auto">
          <a:xfrm rot="0">
            <a:off x="0" y="0"/>
            <a:ext cx="3526526" cy="10287000"/>
            <a:chOff x="0" y="0"/>
            <a:chExt cx="928797" cy="2709333"/>
          </a:xfrm>
        </p:grpSpPr>
        <p:sp>
          <p:nvSpPr>
            <p:cNvPr id="4" name="Freeform 4"/>
            <p:cNvSpPr/>
            <p:nvPr/>
          </p:nvSpPr>
          <p:spPr bwMode="auto">
            <a:xfrm rot="0" flipH="0" flipV="0">
              <a:off x="0" y="0"/>
              <a:ext cx="928797" cy="2709333"/>
            </a:xfrm>
            <a:custGeom>
              <a:avLst/>
              <a:gdLst/>
              <a:ahLst/>
              <a:cxnLst/>
              <a:rect l="l" t="t" r="r" b="b"/>
              <a:pathLst>
                <a:path w="928797" h="2709333" fill="norm" stroke="1" extrusionOk="0">
                  <a:moveTo>
                    <a:pt x="0" y="0"/>
                  </a:moveTo>
                  <a:lnTo>
                    <a:pt x="928797" y="0"/>
                  </a:lnTo>
                  <a:lnTo>
                    <a:pt x="928797" y="2709333"/>
                  </a:lnTo>
                  <a:lnTo>
                    <a:pt x="0" y="2709333"/>
                  </a:lnTo>
                  <a:close/>
                </a:path>
              </a:pathLst>
            </a:custGeom>
            <a:solidFill>
              <a:srgbClr val="FFCB00"/>
            </a:solidFill>
          </p:spPr>
        </p:sp>
        <p:sp>
          <p:nvSpPr>
            <p:cNvPr id="5" name="TextBox 5"/>
            <p:cNvSpPr txBox="1"/>
            <p:nvPr/>
          </p:nvSpPr>
          <p:spPr bwMode="auto">
            <a:xfrm>
              <a:off x="0" y="-38100"/>
              <a:ext cx="928797" cy="2747433"/>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sp>
        <p:nvSpPr>
          <p:cNvPr id="505079935" name="Freeform 6"/>
          <p:cNvSpPr/>
          <p:nvPr/>
        </p:nvSpPr>
        <p:spPr bwMode="auto">
          <a:xfrm rot="0" flipH="0" flipV="0">
            <a:off x="1478233" y="1695408"/>
            <a:ext cx="712343" cy="817610"/>
          </a:xfrm>
          <a:custGeom>
            <a:avLst/>
            <a:gdLst/>
            <a:ahLst/>
            <a:cxnLst/>
            <a:rect l="l" t="t" r="r" b="b"/>
            <a:pathLst>
              <a:path w="712343" h="817610" fill="norm" stroke="1" extrusionOk="0">
                <a:moveTo>
                  <a:pt x="0" y="0"/>
                </a:moveTo>
                <a:lnTo>
                  <a:pt x="712342" y="0"/>
                </a:lnTo>
                <a:lnTo>
                  <a:pt x="712342" y="817610"/>
                </a:lnTo>
                <a:lnTo>
                  <a:pt x="0" y="817610"/>
                </a:lnTo>
                <a:lnTo>
                  <a:pt x="0" y="0"/>
                </a:lnTo>
                <a:close/>
              </a:path>
            </a:pathLst>
          </a:custGeom>
          <a:blipFill rotWithShape="1">
            <a:blip r:embed="rId4"/>
            <a:stretch>
              <a:fillRect l="0" t="0" r="0" b="0"/>
            </a:stretch>
          </a:blipFill>
        </p:spPr>
      </p:sp>
      <p:sp>
        <p:nvSpPr>
          <p:cNvPr id="136911179" name="Freeform 7"/>
          <p:cNvSpPr/>
          <p:nvPr/>
        </p:nvSpPr>
        <p:spPr bwMode="auto">
          <a:xfrm rot="0" flipH="0" flipV="0">
            <a:off x="12445462" y="1983221"/>
            <a:ext cx="4798841" cy="6275408"/>
          </a:xfrm>
          <a:custGeom>
            <a:avLst/>
            <a:gdLst/>
            <a:ahLst/>
            <a:cxnLst/>
            <a:rect l="l" t="t" r="r" b="b"/>
            <a:pathLst>
              <a:path w="4798841" h="6275408" fill="norm" stroke="1" extrusionOk="0">
                <a:moveTo>
                  <a:pt x="0" y="0"/>
                </a:moveTo>
                <a:lnTo>
                  <a:pt x="4798842" y="0"/>
                </a:lnTo>
                <a:lnTo>
                  <a:pt x="4798842" y="6275408"/>
                </a:lnTo>
                <a:lnTo>
                  <a:pt x="0" y="6275408"/>
                </a:lnTo>
                <a:lnTo>
                  <a:pt x="0" y="0"/>
                </a:lnTo>
                <a:close/>
              </a:path>
            </a:pathLst>
          </a:custGeom>
          <a:blipFill rotWithShape="1">
            <a:blip r:embed="rId5"/>
            <a:stretch>
              <a:fillRect l="0" t="0" r="0" b="0"/>
            </a:stretch>
          </a:blipFill>
        </p:spPr>
      </p:sp>
      <p:sp>
        <p:nvSpPr>
          <p:cNvPr id="1215288731" name="TextBox 8"/>
          <p:cNvSpPr txBox="1"/>
          <p:nvPr/>
        </p:nvSpPr>
        <p:spPr bwMode="auto">
          <a:xfrm rot="0">
            <a:off x="4470962" y="1739106"/>
            <a:ext cx="3762172" cy="892264"/>
          </a:xfrm>
          <a:prstGeom prst="rect">
            <a:avLst/>
          </a:prstGeom>
        </p:spPr>
        <p:txBody>
          <a:bodyPr lIns="0" tIns="0" rIns="0" bIns="0" rtlCol="0" anchor="t">
            <a:spAutoFit/>
          </a:bodyPr>
          <a:lstStyle/>
          <a:p>
            <a:pPr marL="0" lvl="0" indent="0" algn="l">
              <a:lnSpc>
                <a:spcPts val="6995"/>
              </a:lnSpc>
              <a:spcBef>
                <a:spcPts val="0"/>
              </a:spcBef>
              <a:defRPr/>
            </a:pPr>
            <a:r>
              <a:rPr lang="en-US" sz="5000" b="1">
                <a:solidFill>
                  <a:srgbClr val="004AAD"/>
                </a:solidFill>
                <a:latin typeface="Poppins Bold"/>
                <a:ea typeface="Poppins Bold"/>
                <a:cs typeface="Poppins Bold"/>
              </a:rPr>
              <a:t>Agent Type</a:t>
            </a:r>
            <a:endParaRPr/>
          </a:p>
        </p:txBody>
      </p:sp>
      <p:sp>
        <p:nvSpPr>
          <p:cNvPr id="825233345" name="TextBox 9"/>
          <p:cNvSpPr txBox="1"/>
          <p:nvPr/>
        </p:nvSpPr>
        <p:spPr bwMode="auto">
          <a:xfrm rot="-5400000">
            <a:off x="-1271153" y="4241710"/>
            <a:ext cx="5783262" cy="1803580"/>
          </a:xfrm>
          <a:prstGeom prst="rect">
            <a:avLst/>
          </a:prstGeom>
        </p:spPr>
        <p:txBody>
          <a:bodyPr lIns="0" tIns="0" rIns="0" bIns="0" rtlCol="0" anchor="t">
            <a:spAutoFit/>
          </a:bodyPr>
          <a:lstStyle/>
          <a:p>
            <a:pPr marL="0" lvl="0" indent="0" algn="ctr">
              <a:lnSpc>
                <a:spcPts val="13990"/>
              </a:lnSpc>
              <a:spcBef>
                <a:spcPts val="0"/>
              </a:spcBef>
              <a:defRPr/>
            </a:pPr>
            <a:r>
              <a:rPr lang="en-US" sz="10000" b="1">
                <a:solidFill>
                  <a:srgbClr val="004AAD"/>
                </a:solidFill>
                <a:latin typeface="Poppins Bold"/>
                <a:ea typeface="Poppins Bold"/>
                <a:cs typeface="Poppins Bold"/>
              </a:rPr>
              <a:t>Agent</a:t>
            </a:r>
            <a:endParaRPr/>
          </a:p>
        </p:txBody>
      </p:sp>
      <p:sp>
        <p:nvSpPr>
          <p:cNvPr id="1200768966" name="TextBox 10"/>
          <p:cNvSpPr txBox="1"/>
          <p:nvPr/>
        </p:nvSpPr>
        <p:spPr bwMode="auto">
          <a:xfrm rot="0">
            <a:off x="4470962" y="3009900"/>
            <a:ext cx="6699200" cy="3667179"/>
          </a:xfrm>
          <a:prstGeom prst="rect">
            <a:avLst/>
          </a:prstGeom>
        </p:spPr>
        <p:txBody>
          <a:bodyPr lIns="0" tIns="0" rIns="0" bIns="0" rtlCol="0" anchor="t">
            <a:spAutoFit/>
          </a:bodyPr>
          <a:lstStyle/>
          <a:p>
            <a:pPr marL="0" lvl="0" indent="0" algn="l">
              <a:lnSpc>
                <a:spcPts val="4197"/>
              </a:lnSpc>
              <a:spcBef>
                <a:spcPts val="0"/>
              </a:spcBef>
              <a:defRPr/>
            </a:pPr>
            <a:r>
              <a:rPr lang="en-US" sz="3000">
                <a:solidFill>
                  <a:srgbClr val="004AAD"/>
                </a:solidFill>
                <a:latin typeface="Poppins"/>
                <a:ea typeface="Poppins"/>
                <a:cs typeface="Poppins"/>
              </a:rPr>
              <a:t>Our AI agent is designed as a Goal-based Reflex Agent. It analyzes the current board state and selects moves based on a clear objective: win the Tic-Tac-Toe game or block the opponent from winning.</a:t>
            </a:r>
            <a:endParaRPr/>
          </a:p>
        </p:txBody>
      </p:sp>
      <p:sp>
        <p:nvSpPr>
          <p:cNvPr id="422561900" name="Freeform 11"/>
          <p:cNvSpPr/>
          <p:nvPr/>
        </p:nvSpPr>
        <p:spPr bwMode="auto">
          <a:xfrm rot="0" flipH="0" flipV="0">
            <a:off x="4470962" y="8352318"/>
            <a:ext cx="905982" cy="905982"/>
          </a:xfrm>
          <a:custGeom>
            <a:avLst/>
            <a:gdLst/>
            <a:ahLst/>
            <a:cxnLst/>
            <a:rect l="l" t="t" r="r" b="b"/>
            <a:pathLst>
              <a:path w="905982" h="905982" fill="norm" stroke="1" extrusionOk="0">
                <a:moveTo>
                  <a:pt x="0" y="0"/>
                </a:moveTo>
                <a:lnTo>
                  <a:pt x="905982" y="0"/>
                </a:lnTo>
                <a:lnTo>
                  <a:pt x="905982" y="905982"/>
                </a:lnTo>
                <a:lnTo>
                  <a:pt x="0" y="905982"/>
                </a:lnTo>
                <a:lnTo>
                  <a:pt x="0" y="0"/>
                </a:lnTo>
                <a:close/>
              </a:path>
            </a:pathLst>
          </a:custGeom>
          <a:blipFill rotWithShape="1">
            <a:blip r:embed="rId6"/>
            <a:stretch>
              <a:fillRect l="0" t="0" r="0" b="0"/>
            </a:stretch>
          </a:blipFill>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3311723" name="Freeform 2"/>
          <p:cNvSpPr/>
          <p:nvPr/>
        </p:nvSpPr>
        <p:spPr bwMode="auto">
          <a:xfrm rot="0" flipH="0" flipV="0">
            <a:off x="0" y="0"/>
            <a:ext cx="18288000" cy="10287000"/>
          </a:xfrm>
          <a:custGeom>
            <a:avLst/>
            <a:gdLst/>
            <a:ahLst/>
            <a:cxnLst/>
            <a:rect l="l" t="t" r="r" b="b"/>
            <a:pathLst>
              <a:path w="18288000" h="10287000" fill="norm" stroke="1" extrusionOk="0">
                <a:moveTo>
                  <a:pt x="0" y="0"/>
                </a:moveTo>
                <a:lnTo>
                  <a:pt x="18288000" y="0"/>
                </a:lnTo>
                <a:lnTo>
                  <a:pt x="18288000" y="10287000"/>
                </a:lnTo>
                <a:lnTo>
                  <a:pt x="0" y="10287000"/>
                </a:lnTo>
                <a:lnTo>
                  <a:pt x="0" y="0"/>
                </a:lnTo>
                <a:close/>
              </a:path>
            </a:pathLst>
          </a:custGeom>
          <a:blipFill rotWithShape="1">
            <a:blip r:embed="rId3"/>
            <a:stretch>
              <a:fillRect l="0" t="-666" r="0" b="-665"/>
            </a:stretch>
          </a:blipFill>
        </p:spPr>
      </p:sp>
      <p:grpSp>
        <p:nvGrpSpPr>
          <p:cNvPr id="1390745729" name="Group 3"/>
          <p:cNvGrpSpPr/>
          <p:nvPr/>
        </p:nvGrpSpPr>
        <p:grpSpPr bwMode="auto">
          <a:xfrm rot="0">
            <a:off x="0" y="0"/>
            <a:ext cx="18288000" cy="3913633"/>
            <a:chOff x="0" y="0"/>
            <a:chExt cx="4816593" cy="1030751"/>
          </a:xfrm>
        </p:grpSpPr>
        <p:sp>
          <p:nvSpPr>
            <p:cNvPr id="4" name="Freeform 4"/>
            <p:cNvSpPr/>
            <p:nvPr/>
          </p:nvSpPr>
          <p:spPr bwMode="auto">
            <a:xfrm rot="0" flipH="0" flipV="0">
              <a:off x="0" y="0"/>
              <a:ext cx="4816592" cy="1030751"/>
            </a:xfrm>
            <a:custGeom>
              <a:avLst/>
              <a:gdLst/>
              <a:ahLst/>
              <a:cxnLst/>
              <a:rect l="l" t="t" r="r" b="b"/>
              <a:pathLst>
                <a:path w="4816592" h="1030751" fill="norm" stroke="1" extrusionOk="0">
                  <a:moveTo>
                    <a:pt x="0" y="0"/>
                  </a:moveTo>
                  <a:lnTo>
                    <a:pt x="4816592" y="0"/>
                  </a:lnTo>
                  <a:lnTo>
                    <a:pt x="4816592" y="1030751"/>
                  </a:lnTo>
                  <a:lnTo>
                    <a:pt x="0" y="1030751"/>
                  </a:lnTo>
                  <a:close/>
                </a:path>
              </a:pathLst>
            </a:custGeom>
            <a:solidFill>
              <a:srgbClr val="FFCB00"/>
            </a:solidFill>
          </p:spPr>
        </p:sp>
        <p:sp>
          <p:nvSpPr>
            <p:cNvPr id="5" name="TextBox 5"/>
            <p:cNvSpPr txBox="1"/>
            <p:nvPr/>
          </p:nvSpPr>
          <p:spPr bwMode="auto">
            <a:xfrm>
              <a:off x="0" y="-38100"/>
              <a:ext cx="4816593" cy="1068851"/>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sp>
        <p:nvSpPr>
          <p:cNvPr id="1134588683" name="Freeform 6"/>
          <p:cNvSpPr/>
          <p:nvPr/>
        </p:nvSpPr>
        <p:spPr bwMode="auto">
          <a:xfrm rot="0" flipH="0" flipV="0">
            <a:off x="10162474" y="4147413"/>
            <a:ext cx="8040726" cy="5367184"/>
          </a:xfrm>
          <a:custGeom>
            <a:avLst/>
            <a:gdLst/>
            <a:ahLst/>
            <a:cxnLst/>
            <a:rect l="l" t="t" r="r" b="b"/>
            <a:pathLst>
              <a:path w="8040726" h="5367185" fill="norm" stroke="1" extrusionOk="0">
                <a:moveTo>
                  <a:pt x="0" y="0"/>
                </a:moveTo>
                <a:lnTo>
                  <a:pt x="8040726" y="0"/>
                </a:lnTo>
                <a:lnTo>
                  <a:pt x="8040726" y="5367185"/>
                </a:lnTo>
                <a:lnTo>
                  <a:pt x="0" y="5367185"/>
                </a:lnTo>
                <a:lnTo>
                  <a:pt x="0" y="0"/>
                </a:lnTo>
                <a:close/>
              </a:path>
            </a:pathLst>
          </a:custGeom>
          <a:blipFill rotWithShape="1">
            <a:blip r:embed="rId4"/>
            <a:stretch>
              <a:fillRect l="0" t="0" r="0" b="0"/>
            </a:stretch>
          </a:blipFill>
        </p:spPr>
      </p:sp>
      <p:sp>
        <p:nvSpPr>
          <p:cNvPr id="504166194" name="TextBox 7"/>
          <p:cNvSpPr txBox="1"/>
          <p:nvPr/>
        </p:nvSpPr>
        <p:spPr bwMode="auto">
          <a:xfrm rot="0">
            <a:off x="4623360" y="1045591"/>
            <a:ext cx="9041281" cy="976273"/>
          </a:xfrm>
          <a:prstGeom prst="rect">
            <a:avLst/>
          </a:prstGeom>
        </p:spPr>
        <p:txBody>
          <a:bodyPr lIns="0" tIns="0" rIns="0" bIns="0" rtlCol="0" anchor="t">
            <a:spAutoFit/>
          </a:bodyPr>
          <a:lstStyle/>
          <a:p>
            <a:pPr marL="0" lvl="0" indent="0" algn="ctr">
              <a:lnSpc>
                <a:spcPts val="7614"/>
              </a:lnSpc>
              <a:spcBef>
                <a:spcPts val="0"/>
              </a:spcBef>
              <a:defRPr/>
            </a:pPr>
            <a:r>
              <a:rPr lang="en-US" sz="5450" b="1">
                <a:solidFill>
                  <a:srgbClr val="004AAD"/>
                </a:solidFill>
                <a:latin typeface="Poppins Bold"/>
                <a:ea typeface="Poppins Bold"/>
                <a:cs typeface="Poppins Bold"/>
              </a:rPr>
              <a:t>Tic-Tac-Toe Game Board</a:t>
            </a:r>
            <a:endParaRPr/>
          </a:p>
        </p:txBody>
      </p:sp>
      <p:sp>
        <p:nvSpPr>
          <p:cNvPr id="2115580540" name="TextBox 8"/>
          <p:cNvSpPr txBox="1"/>
          <p:nvPr/>
        </p:nvSpPr>
        <p:spPr bwMode="auto">
          <a:xfrm rot="0">
            <a:off x="1028700" y="5067300"/>
            <a:ext cx="6573364" cy="2619429"/>
          </a:xfrm>
          <a:prstGeom prst="rect">
            <a:avLst/>
          </a:prstGeom>
        </p:spPr>
        <p:txBody>
          <a:bodyPr lIns="0" tIns="0" rIns="0" bIns="0" rtlCol="0" anchor="t">
            <a:spAutoFit/>
          </a:bodyPr>
          <a:lstStyle/>
          <a:p>
            <a:pPr marL="0" lvl="0" indent="0" algn="l">
              <a:lnSpc>
                <a:spcPts val="4197"/>
              </a:lnSpc>
              <a:spcBef>
                <a:spcPts val="0"/>
              </a:spcBef>
              <a:defRPr/>
            </a:pPr>
            <a:r>
              <a:rPr lang="en-US" sz="3000">
                <a:solidFill>
                  <a:srgbClr val="004AAD"/>
                </a:solidFill>
                <a:latin typeface="Poppins"/>
                <a:ea typeface="Poppins"/>
                <a:cs typeface="Poppins"/>
              </a:rPr>
              <a:t>The board environment where the AI agent operates. A simple 3x3 grid serves as the playing field for both the human player and the AI agent.</a:t>
            </a:r>
            <a:endParaRPr/>
          </a:p>
        </p:txBody>
      </p:sp>
      <p:sp>
        <p:nvSpPr>
          <p:cNvPr id="648612257" name="Freeform 9"/>
          <p:cNvSpPr/>
          <p:nvPr/>
        </p:nvSpPr>
        <p:spPr bwMode="auto">
          <a:xfrm rot="0" flipH="0" flipV="0">
            <a:off x="1028700" y="8352318"/>
            <a:ext cx="905982" cy="905982"/>
          </a:xfrm>
          <a:custGeom>
            <a:avLst/>
            <a:gdLst/>
            <a:ahLst/>
            <a:cxnLst/>
            <a:rect l="l" t="t" r="r" b="b"/>
            <a:pathLst>
              <a:path w="905982" h="905982" fill="norm" stroke="1" extrusionOk="0">
                <a:moveTo>
                  <a:pt x="0" y="0"/>
                </a:moveTo>
                <a:lnTo>
                  <a:pt x="905982" y="0"/>
                </a:lnTo>
                <a:lnTo>
                  <a:pt x="905982" y="905982"/>
                </a:lnTo>
                <a:lnTo>
                  <a:pt x="0" y="905982"/>
                </a:lnTo>
                <a:lnTo>
                  <a:pt x="0" y="0"/>
                </a:lnTo>
                <a:close/>
              </a:path>
            </a:pathLst>
          </a:custGeom>
          <a:blipFill rotWithShape="1">
            <a:blip r:embed="rId5"/>
            <a:stretch>
              <a:fillRect l="0" t="0" r="0" b="0"/>
            </a:stretch>
          </a:blipFill>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4447594" name="Freeform 2"/>
          <p:cNvSpPr/>
          <p:nvPr/>
        </p:nvSpPr>
        <p:spPr bwMode="auto">
          <a:xfrm rot="0" flipH="0" flipV="0">
            <a:off x="0" y="0"/>
            <a:ext cx="18288000" cy="10287000"/>
          </a:xfrm>
          <a:custGeom>
            <a:avLst/>
            <a:gdLst/>
            <a:ahLst/>
            <a:cxnLst/>
            <a:rect l="l" t="t" r="r" b="b"/>
            <a:pathLst>
              <a:path w="18288000" h="10287000" fill="norm" stroke="1" extrusionOk="0">
                <a:moveTo>
                  <a:pt x="0" y="0"/>
                </a:moveTo>
                <a:lnTo>
                  <a:pt x="18288000" y="0"/>
                </a:lnTo>
                <a:lnTo>
                  <a:pt x="18288000" y="10287000"/>
                </a:lnTo>
                <a:lnTo>
                  <a:pt x="0" y="10287000"/>
                </a:lnTo>
                <a:lnTo>
                  <a:pt x="0" y="0"/>
                </a:lnTo>
                <a:close/>
              </a:path>
            </a:pathLst>
          </a:custGeom>
          <a:blipFill rotWithShape="1">
            <a:blip r:embed="rId3"/>
            <a:stretch>
              <a:fillRect l="0" t="-38888" r="0" b="-38888"/>
            </a:stretch>
          </a:blipFill>
        </p:spPr>
      </p:sp>
      <p:grpSp>
        <p:nvGrpSpPr>
          <p:cNvPr id="1102392517" name="Group 3"/>
          <p:cNvGrpSpPr/>
          <p:nvPr/>
        </p:nvGrpSpPr>
        <p:grpSpPr bwMode="auto">
          <a:xfrm rot="0">
            <a:off x="0" y="0"/>
            <a:ext cx="3526526" cy="10287000"/>
            <a:chOff x="0" y="0"/>
            <a:chExt cx="928797" cy="2709333"/>
          </a:xfrm>
        </p:grpSpPr>
        <p:sp>
          <p:nvSpPr>
            <p:cNvPr id="4" name="Freeform 4"/>
            <p:cNvSpPr/>
            <p:nvPr/>
          </p:nvSpPr>
          <p:spPr bwMode="auto">
            <a:xfrm rot="0" flipH="0" flipV="0">
              <a:off x="0" y="0"/>
              <a:ext cx="928797" cy="2709333"/>
            </a:xfrm>
            <a:custGeom>
              <a:avLst/>
              <a:gdLst/>
              <a:ahLst/>
              <a:cxnLst/>
              <a:rect l="l" t="t" r="r" b="b"/>
              <a:pathLst>
                <a:path w="928797" h="2709333" fill="norm" stroke="1" extrusionOk="0">
                  <a:moveTo>
                    <a:pt x="0" y="0"/>
                  </a:moveTo>
                  <a:lnTo>
                    <a:pt x="928797" y="0"/>
                  </a:lnTo>
                  <a:lnTo>
                    <a:pt x="928797" y="2709333"/>
                  </a:lnTo>
                  <a:lnTo>
                    <a:pt x="0" y="2709333"/>
                  </a:lnTo>
                  <a:close/>
                </a:path>
              </a:pathLst>
            </a:custGeom>
            <a:solidFill>
              <a:srgbClr val="FFCB00"/>
            </a:solidFill>
          </p:spPr>
        </p:sp>
        <p:sp>
          <p:nvSpPr>
            <p:cNvPr id="5" name="TextBox 5"/>
            <p:cNvSpPr txBox="1"/>
            <p:nvPr/>
          </p:nvSpPr>
          <p:spPr bwMode="auto">
            <a:xfrm>
              <a:off x="0" y="-38100"/>
              <a:ext cx="928797" cy="2747433"/>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sp>
        <p:nvSpPr>
          <p:cNvPr id="520778881" name="Freeform 6"/>
          <p:cNvSpPr/>
          <p:nvPr/>
        </p:nvSpPr>
        <p:spPr bwMode="auto">
          <a:xfrm rot="0" flipH="0" flipV="0">
            <a:off x="1478233" y="1695408"/>
            <a:ext cx="712343" cy="817610"/>
          </a:xfrm>
          <a:custGeom>
            <a:avLst/>
            <a:gdLst/>
            <a:ahLst/>
            <a:cxnLst/>
            <a:rect l="l" t="t" r="r" b="b"/>
            <a:pathLst>
              <a:path w="712343" h="817610" fill="norm" stroke="1" extrusionOk="0">
                <a:moveTo>
                  <a:pt x="0" y="0"/>
                </a:moveTo>
                <a:lnTo>
                  <a:pt x="712342" y="0"/>
                </a:lnTo>
                <a:lnTo>
                  <a:pt x="712342" y="817610"/>
                </a:lnTo>
                <a:lnTo>
                  <a:pt x="0" y="817610"/>
                </a:lnTo>
                <a:lnTo>
                  <a:pt x="0" y="0"/>
                </a:lnTo>
                <a:close/>
              </a:path>
            </a:pathLst>
          </a:custGeom>
          <a:blipFill rotWithShape="1">
            <a:blip r:embed="rId4"/>
            <a:stretch>
              <a:fillRect l="0" t="0" r="0" b="0"/>
            </a:stretch>
          </a:blipFill>
        </p:spPr>
      </p:sp>
      <p:sp>
        <p:nvSpPr>
          <p:cNvPr id="1580678633" name="Freeform 7"/>
          <p:cNvSpPr/>
          <p:nvPr/>
        </p:nvSpPr>
        <p:spPr bwMode="auto">
          <a:xfrm rot="0" flipH="0" flipV="0">
            <a:off x="12037964" y="2499994"/>
            <a:ext cx="5435460" cy="5326750"/>
          </a:xfrm>
          <a:custGeom>
            <a:avLst/>
            <a:gdLst/>
            <a:ahLst/>
            <a:cxnLst/>
            <a:rect l="l" t="t" r="r" b="b"/>
            <a:pathLst>
              <a:path w="5435460" h="5326750" fill="norm" stroke="1" extrusionOk="0">
                <a:moveTo>
                  <a:pt x="0" y="0"/>
                </a:moveTo>
                <a:lnTo>
                  <a:pt x="5435460" y="0"/>
                </a:lnTo>
                <a:lnTo>
                  <a:pt x="5435460" y="5326750"/>
                </a:lnTo>
                <a:lnTo>
                  <a:pt x="0" y="5326750"/>
                </a:lnTo>
                <a:lnTo>
                  <a:pt x="0" y="0"/>
                </a:lnTo>
                <a:close/>
              </a:path>
            </a:pathLst>
          </a:custGeom>
          <a:blipFill rotWithShape="1">
            <a:blip r:embed="rId5"/>
            <a:stretch>
              <a:fillRect l="0" t="0" r="0" b="0"/>
            </a:stretch>
          </a:blipFill>
        </p:spPr>
      </p:sp>
      <p:sp>
        <p:nvSpPr>
          <p:cNvPr id="1961030353" name="TextBox 8"/>
          <p:cNvSpPr txBox="1"/>
          <p:nvPr/>
        </p:nvSpPr>
        <p:spPr bwMode="auto">
          <a:xfrm rot="0">
            <a:off x="4470962" y="1815306"/>
            <a:ext cx="3762172" cy="798810"/>
          </a:xfrm>
          <a:prstGeom prst="rect">
            <a:avLst/>
          </a:prstGeom>
        </p:spPr>
        <p:txBody>
          <a:bodyPr lIns="0" tIns="0" rIns="0" bIns="0" rtlCol="0" anchor="t">
            <a:spAutoFit/>
          </a:bodyPr>
          <a:lstStyle/>
          <a:p>
            <a:pPr marL="0" lvl="0" indent="0" algn="l">
              <a:lnSpc>
                <a:spcPts val="3221"/>
              </a:lnSpc>
              <a:spcBef>
                <a:spcPts val="0"/>
              </a:spcBef>
              <a:defRPr/>
            </a:pPr>
            <a:r>
              <a:rPr lang="en-US" sz="2300" b="1">
                <a:solidFill>
                  <a:srgbClr val="004AAD"/>
                </a:solidFill>
                <a:latin typeface="Poppins Bold"/>
                <a:ea typeface="Poppins Bold"/>
                <a:cs typeface="Poppins Bold"/>
              </a:rPr>
              <a:t>How the AI Chooses Moves</a:t>
            </a:r>
            <a:endParaRPr/>
          </a:p>
        </p:txBody>
      </p:sp>
      <p:sp>
        <p:nvSpPr>
          <p:cNvPr id="2020592295" name="TextBox 9"/>
          <p:cNvSpPr txBox="1"/>
          <p:nvPr/>
        </p:nvSpPr>
        <p:spPr bwMode="auto">
          <a:xfrm rot="-5400000">
            <a:off x="-1602734" y="4735214"/>
            <a:ext cx="5783262" cy="816571"/>
          </a:xfrm>
          <a:prstGeom prst="rect">
            <a:avLst/>
          </a:prstGeom>
        </p:spPr>
        <p:txBody>
          <a:bodyPr lIns="0" tIns="0" rIns="0" bIns="0" rtlCol="0" anchor="t">
            <a:spAutoFit/>
          </a:bodyPr>
          <a:lstStyle/>
          <a:p>
            <a:pPr marL="0" lvl="0" indent="0" algn="ctr">
              <a:lnSpc>
                <a:spcPts val="6442"/>
              </a:lnSpc>
              <a:spcBef>
                <a:spcPts val="0"/>
              </a:spcBef>
              <a:defRPr/>
            </a:pPr>
            <a:r>
              <a:rPr lang="en-US" sz="4600" b="1">
                <a:solidFill>
                  <a:srgbClr val="004AAD"/>
                </a:solidFill>
                <a:latin typeface="Poppins Bold"/>
                <a:ea typeface="Poppins Bold"/>
                <a:cs typeface="Poppins Bold"/>
              </a:rPr>
              <a:t>Process</a:t>
            </a:r>
            <a:endParaRPr/>
          </a:p>
        </p:txBody>
      </p:sp>
      <p:sp>
        <p:nvSpPr>
          <p:cNvPr id="1774104553" name="TextBox 10"/>
          <p:cNvSpPr txBox="1"/>
          <p:nvPr/>
        </p:nvSpPr>
        <p:spPr bwMode="auto">
          <a:xfrm rot="0">
            <a:off x="4470962" y="3038475"/>
            <a:ext cx="6699200" cy="965061"/>
          </a:xfrm>
          <a:prstGeom prst="rect">
            <a:avLst/>
          </a:prstGeom>
        </p:spPr>
        <p:txBody>
          <a:bodyPr lIns="0" tIns="0" rIns="0" bIns="0" rtlCol="0" anchor="t">
            <a:spAutoFit/>
          </a:bodyPr>
          <a:lstStyle/>
          <a:p>
            <a:pPr marL="0" lvl="0" indent="0" algn="l">
              <a:lnSpc>
                <a:spcPts val="1932"/>
              </a:lnSpc>
              <a:spcBef>
                <a:spcPts val="0"/>
              </a:spcBef>
              <a:defRPr/>
            </a:pPr>
            <a:r>
              <a:rPr lang="en-US" sz="1400">
                <a:solidFill>
                  <a:srgbClr val="004AAD"/>
                </a:solidFill>
                <a:latin typeface="Poppins"/>
                <a:ea typeface="Poppins"/>
                <a:cs typeface="Poppins"/>
              </a:rPr>
              <a:t>The AI agent analyzes the current board state to identify all possible moves. It evaluates each option by checking for winning opportunities first, then blocking opponent wins, and finally selecting strategic positions like the center or corners.</a:t>
            </a:r>
            <a:endParaRPr/>
          </a:p>
        </p:txBody>
      </p:sp>
      <p:sp>
        <p:nvSpPr>
          <p:cNvPr id="738799482" name="Freeform 11"/>
          <p:cNvSpPr/>
          <p:nvPr/>
        </p:nvSpPr>
        <p:spPr bwMode="auto">
          <a:xfrm rot="0" flipH="0" flipV="0">
            <a:off x="4470962" y="8352318"/>
            <a:ext cx="905982" cy="905982"/>
          </a:xfrm>
          <a:custGeom>
            <a:avLst/>
            <a:gdLst/>
            <a:ahLst/>
            <a:cxnLst/>
            <a:rect l="l" t="t" r="r" b="b"/>
            <a:pathLst>
              <a:path w="905982" h="905982" fill="norm" stroke="1" extrusionOk="0">
                <a:moveTo>
                  <a:pt x="0" y="0"/>
                </a:moveTo>
                <a:lnTo>
                  <a:pt x="905982" y="0"/>
                </a:lnTo>
                <a:lnTo>
                  <a:pt x="905982" y="905982"/>
                </a:lnTo>
                <a:lnTo>
                  <a:pt x="0" y="905982"/>
                </a:lnTo>
                <a:lnTo>
                  <a:pt x="0" y="0"/>
                </a:lnTo>
                <a:close/>
              </a:path>
            </a:pathLst>
          </a:custGeom>
          <a:blipFill rotWithShape="1">
            <a:blip r:embed="rId6"/>
            <a:stretch>
              <a:fillRect l="0" t="0" r="0" b="0"/>
            </a:stretch>
          </a:blipFill>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2701113" name="Freeform 2"/>
          <p:cNvSpPr/>
          <p:nvPr/>
        </p:nvSpPr>
        <p:spPr bwMode="auto">
          <a:xfrm rot="0" flipH="0" flipV="0">
            <a:off x="0" y="0"/>
            <a:ext cx="18288000" cy="10287000"/>
          </a:xfrm>
          <a:custGeom>
            <a:avLst/>
            <a:gdLst/>
            <a:ahLst/>
            <a:cxnLst/>
            <a:rect l="l" t="t" r="r" b="b"/>
            <a:pathLst>
              <a:path w="18288000" h="10287000" fill="norm" stroke="1" extrusionOk="0">
                <a:moveTo>
                  <a:pt x="0" y="0"/>
                </a:moveTo>
                <a:lnTo>
                  <a:pt x="18288000" y="0"/>
                </a:lnTo>
                <a:lnTo>
                  <a:pt x="18288000" y="10287000"/>
                </a:lnTo>
                <a:lnTo>
                  <a:pt x="0" y="10287000"/>
                </a:lnTo>
                <a:lnTo>
                  <a:pt x="0" y="0"/>
                </a:lnTo>
                <a:close/>
              </a:path>
            </a:pathLst>
          </a:custGeom>
          <a:blipFill rotWithShape="1">
            <a:blip r:embed="rId3"/>
            <a:stretch>
              <a:fillRect l="0" t="-38888" r="0" b="-38888"/>
            </a:stretch>
          </a:blipFill>
        </p:spPr>
      </p:sp>
      <p:grpSp>
        <p:nvGrpSpPr>
          <p:cNvPr id="768413621" name="Group 3"/>
          <p:cNvGrpSpPr/>
          <p:nvPr/>
        </p:nvGrpSpPr>
        <p:grpSpPr bwMode="auto">
          <a:xfrm rot="0">
            <a:off x="14761474" y="0"/>
            <a:ext cx="3526526" cy="10287000"/>
            <a:chOff x="0" y="0"/>
            <a:chExt cx="928797" cy="2709333"/>
          </a:xfrm>
        </p:grpSpPr>
        <p:sp>
          <p:nvSpPr>
            <p:cNvPr id="4" name="Freeform 4"/>
            <p:cNvSpPr/>
            <p:nvPr/>
          </p:nvSpPr>
          <p:spPr bwMode="auto">
            <a:xfrm rot="0" flipH="0" flipV="0">
              <a:off x="0" y="0"/>
              <a:ext cx="928797" cy="2709333"/>
            </a:xfrm>
            <a:custGeom>
              <a:avLst/>
              <a:gdLst/>
              <a:ahLst/>
              <a:cxnLst/>
              <a:rect l="l" t="t" r="r" b="b"/>
              <a:pathLst>
                <a:path w="928797" h="2709333" fill="norm" stroke="1" extrusionOk="0">
                  <a:moveTo>
                    <a:pt x="0" y="0"/>
                  </a:moveTo>
                  <a:lnTo>
                    <a:pt x="928797" y="0"/>
                  </a:lnTo>
                  <a:lnTo>
                    <a:pt x="928797" y="2709333"/>
                  </a:lnTo>
                  <a:lnTo>
                    <a:pt x="0" y="2709333"/>
                  </a:lnTo>
                  <a:close/>
                </a:path>
              </a:pathLst>
            </a:custGeom>
            <a:solidFill>
              <a:srgbClr val="FFCB00"/>
            </a:solidFill>
          </p:spPr>
        </p:sp>
        <p:sp>
          <p:nvSpPr>
            <p:cNvPr id="5" name="TextBox 5"/>
            <p:cNvSpPr txBox="1"/>
            <p:nvPr/>
          </p:nvSpPr>
          <p:spPr bwMode="auto">
            <a:xfrm>
              <a:off x="0" y="-38100"/>
              <a:ext cx="928797" cy="2747433"/>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16489785" name="Group 6"/>
          <p:cNvGrpSpPr/>
          <p:nvPr/>
        </p:nvGrpSpPr>
        <p:grpSpPr bwMode="auto">
          <a:xfrm rot="0">
            <a:off x="12735231" y="3144441"/>
            <a:ext cx="1104183" cy="1126251"/>
            <a:chOff x="0" y="0"/>
            <a:chExt cx="290814" cy="296626"/>
          </a:xfrm>
        </p:grpSpPr>
        <p:sp>
          <p:nvSpPr>
            <p:cNvPr id="7" name="Freeform 7"/>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8" name="TextBox 8"/>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1576821940" name="Group 9"/>
          <p:cNvGrpSpPr/>
          <p:nvPr/>
        </p:nvGrpSpPr>
        <p:grpSpPr bwMode="auto">
          <a:xfrm rot="0">
            <a:off x="12735231" y="6155451"/>
            <a:ext cx="1104183" cy="1126251"/>
            <a:chOff x="0" y="0"/>
            <a:chExt cx="290814" cy="296626"/>
          </a:xfrm>
        </p:grpSpPr>
        <p:sp>
          <p:nvSpPr>
            <p:cNvPr id="10" name="Freeform 10"/>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11" name="TextBox 11"/>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grpSp>
        <p:nvGrpSpPr>
          <p:cNvPr id="2042857810" name="Group 12"/>
          <p:cNvGrpSpPr/>
          <p:nvPr/>
        </p:nvGrpSpPr>
        <p:grpSpPr bwMode="auto">
          <a:xfrm rot="0">
            <a:off x="12735231" y="4648200"/>
            <a:ext cx="1104183" cy="1126251"/>
            <a:chOff x="0" y="0"/>
            <a:chExt cx="290814" cy="296626"/>
          </a:xfrm>
        </p:grpSpPr>
        <p:sp>
          <p:nvSpPr>
            <p:cNvPr id="13" name="Freeform 13"/>
            <p:cNvSpPr/>
            <p:nvPr/>
          </p:nvSpPr>
          <p:spPr bwMode="auto">
            <a:xfrm rot="0" flipH="0" flipV="0">
              <a:off x="0" y="0"/>
              <a:ext cx="290814" cy="296626"/>
            </a:xfrm>
            <a:custGeom>
              <a:avLst/>
              <a:gdLst/>
              <a:ahLst/>
              <a:cxnLst/>
              <a:rect l="l" t="t" r="r" b="b"/>
              <a:pathLst>
                <a:path w="290814" h="296626" fill="norm" stroke="1" extrusionOk="0">
                  <a:moveTo>
                    <a:pt x="0" y="0"/>
                  </a:moveTo>
                  <a:lnTo>
                    <a:pt x="290814" y="0"/>
                  </a:lnTo>
                  <a:lnTo>
                    <a:pt x="290814" y="296626"/>
                  </a:lnTo>
                  <a:lnTo>
                    <a:pt x="0" y="296626"/>
                  </a:lnTo>
                  <a:close/>
                </a:path>
              </a:pathLst>
            </a:custGeom>
            <a:solidFill>
              <a:srgbClr val="004AAD"/>
            </a:solidFill>
          </p:spPr>
        </p:sp>
        <p:sp>
          <p:nvSpPr>
            <p:cNvPr id="14" name="TextBox 14"/>
            <p:cNvSpPr txBox="1"/>
            <p:nvPr/>
          </p:nvSpPr>
          <p:spPr bwMode="auto">
            <a:xfrm>
              <a:off x="0" y="-38100"/>
              <a:ext cx="290814" cy="334726"/>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sp>
        <p:nvSpPr>
          <p:cNvPr id="517952570" name="Freeform 15"/>
          <p:cNvSpPr/>
          <p:nvPr/>
        </p:nvSpPr>
        <p:spPr bwMode="auto">
          <a:xfrm rot="0" flipH="0" flipV="0">
            <a:off x="16168566" y="1028700"/>
            <a:ext cx="712343" cy="817610"/>
          </a:xfrm>
          <a:custGeom>
            <a:avLst/>
            <a:gdLst/>
            <a:ahLst/>
            <a:cxnLst/>
            <a:rect l="l" t="t" r="r" b="b"/>
            <a:pathLst>
              <a:path w="712343" h="817610" fill="norm" stroke="1" extrusionOk="0">
                <a:moveTo>
                  <a:pt x="0" y="0"/>
                </a:moveTo>
                <a:lnTo>
                  <a:pt x="712342" y="0"/>
                </a:lnTo>
                <a:lnTo>
                  <a:pt x="712342" y="817610"/>
                </a:lnTo>
                <a:lnTo>
                  <a:pt x="0" y="817610"/>
                </a:lnTo>
                <a:lnTo>
                  <a:pt x="0" y="0"/>
                </a:lnTo>
                <a:close/>
              </a:path>
            </a:pathLst>
          </a:custGeom>
          <a:blipFill rotWithShape="1">
            <a:blip r:embed="rId4"/>
            <a:stretch>
              <a:fillRect l="0" t="0" r="0" b="0"/>
            </a:stretch>
          </a:blipFill>
        </p:spPr>
      </p:sp>
      <p:sp>
        <p:nvSpPr>
          <p:cNvPr id="1926123991" name="TextBox 16"/>
          <p:cNvSpPr txBox="1"/>
          <p:nvPr/>
        </p:nvSpPr>
        <p:spPr bwMode="auto">
          <a:xfrm rot="0">
            <a:off x="10285534" y="1739106"/>
            <a:ext cx="3553880" cy="892264"/>
          </a:xfrm>
          <a:prstGeom prst="rect">
            <a:avLst/>
          </a:prstGeom>
        </p:spPr>
        <p:txBody>
          <a:bodyPr lIns="0" tIns="0" rIns="0" bIns="0" rtlCol="0" anchor="t">
            <a:spAutoFit/>
          </a:bodyPr>
          <a:lstStyle/>
          <a:p>
            <a:pPr marL="0" lvl="0" indent="0" algn="r">
              <a:lnSpc>
                <a:spcPts val="6995"/>
              </a:lnSpc>
              <a:spcBef>
                <a:spcPts val="0"/>
              </a:spcBef>
              <a:defRPr/>
            </a:pPr>
            <a:r>
              <a:rPr lang="en-US" sz="5000" b="1">
                <a:solidFill>
                  <a:srgbClr val="004AAD"/>
                </a:solidFill>
                <a:latin typeface="Poppins Bold"/>
                <a:ea typeface="Poppins Bold"/>
                <a:cs typeface="Poppins Bold"/>
              </a:rPr>
              <a:t>Summary</a:t>
            </a:r>
            <a:endParaRPr/>
          </a:p>
        </p:txBody>
      </p:sp>
      <p:sp>
        <p:nvSpPr>
          <p:cNvPr id="948501379" name="TextBox 17"/>
          <p:cNvSpPr txBox="1"/>
          <p:nvPr/>
        </p:nvSpPr>
        <p:spPr bwMode="auto">
          <a:xfrm rot="-5400000">
            <a:off x="13490320" y="4241710"/>
            <a:ext cx="5783262" cy="1803580"/>
          </a:xfrm>
          <a:prstGeom prst="rect">
            <a:avLst/>
          </a:prstGeom>
        </p:spPr>
        <p:txBody>
          <a:bodyPr lIns="0" tIns="0" rIns="0" bIns="0" rtlCol="0" anchor="t">
            <a:spAutoFit/>
          </a:bodyPr>
          <a:lstStyle/>
          <a:p>
            <a:pPr marL="0" lvl="0" indent="0" algn="ctr">
              <a:lnSpc>
                <a:spcPts val="13990"/>
              </a:lnSpc>
              <a:spcBef>
                <a:spcPts val="0"/>
              </a:spcBef>
              <a:defRPr/>
            </a:pPr>
            <a:r>
              <a:rPr lang="en-US" sz="10000" b="1">
                <a:solidFill>
                  <a:srgbClr val="004AAD"/>
                </a:solidFill>
                <a:latin typeface="Poppins Bold"/>
                <a:ea typeface="Poppins Bold"/>
                <a:cs typeface="Poppins Bold"/>
              </a:rPr>
              <a:t>10</a:t>
            </a:r>
            <a:endParaRPr/>
          </a:p>
        </p:txBody>
      </p:sp>
      <p:sp>
        <p:nvSpPr>
          <p:cNvPr id="1433119949" name="TextBox 18"/>
          <p:cNvSpPr txBox="1"/>
          <p:nvPr/>
        </p:nvSpPr>
        <p:spPr bwMode="auto">
          <a:xfrm rot="0">
            <a:off x="3772074" y="3104861"/>
            <a:ext cx="8498692" cy="1048202"/>
          </a:xfrm>
          <a:prstGeom prst="rect">
            <a:avLst/>
          </a:prstGeom>
        </p:spPr>
        <p:txBody>
          <a:bodyPr lIns="0" tIns="0" rIns="0" bIns="0" rtlCol="0" anchor="t">
            <a:spAutoFit/>
          </a:bodyPr>
          <a:lstStyle/>
          <a:p>
            <a:pPr marL="0" lvl="0" indent="0" algn="r">
              <a:lnSpc>
                <a:spcPts val="4175"/>
              </a:lnSpc>
              <a:spcBef>
                <a:spcPts val="0"/>
              </a:spcBef>
              <a:defRPr/>
            </a:pPr>
            <a:r>
              <a:rPr lang="en-US" sz="3000">
                <a:solidFill>
                  <a:srgbClr val="004AAD"/>
                </a:solidFill>
                <a:latin typeface="Poppins"/>
                <a:ea typeface="Poppins"/>
                <a:cs typeface="Poppins"/>
              </a:rPr>
              <a:t>AI agent designed to play Tic-Tac-Toe intelligently using strategic decision-making.</a:t>
            </a:r>
            <a:endParaRPr/>
          </a:p>
        </p:txBody>
      </p:sp>
      <p:sp>
        <p:nvSpPr>
          <p:cNvPr id="151419675" name="TextBox 19"/>
          <p:cNvSpPr txBox="1"/>
          <p:nvPr/>
        </p:nvSpPr>
        <p:spPr bwMode="auto">
          <a:xfrm rot="0">
            <a:off x="3772074" y="6115872"/>
            <a:ext cx="8498692" cy="1048202"/>
          </a:xfrm>
          <a:prstGeom prst="rect">
            <a:avLst/>
          </a:prstGeom>
        </p:spPr>
        <p:txBody>
          <a:bodyPr lIns="0" tIns="0" rIns="0" bIns="0" rtlCol="0" anchor="t">
            <a:spAutoFit/>
          </a:bodyPr>
          <a:lstStyle/>
          <a:p>
            <a:pPr marL="0" lvl="0" indent="0" algn="r">
              <a:lnSpc>
                <a:spcPts val="4175"/>
              </a:lnSpc>
              <a:spcBef>
                <a:spcPts val="0"/>
              </a:spcBef>
              <a:defRPr/>
            </a:pPr>
            <a:r>
              <a:rPr lang="en-US" sz="3000">
                <a:solidFill>
                  <a:srgbClr val="004AAD"/>
                </a:solidFill>
                <a:latin typeface="Poppins"/>
                <a:ea typeface="Poppins"/>
                <a:cs typeface="Poppins"/>
              </a:rPr>
              <a:t>Goal-based reflex agent aims to win or achieve a draw against opponents.</a:t>
            </a:r>
            <a:endParaRPr/>
          </a:p>
        </p:txBody>
      </p:sp>
      <p:sp>
        <p:nvSpPr>
          <p:cNvPr id="202724026" name="Freeform 20"/>
          <p:cNvSpPr/>
          <p:nvPr/>
        </p:nvSpPr>
        <p:spPr bwMode="auto">
          <a:xfrm rot="0" flipH="0" flipV="0">
            <a:off x="12933432" y="8352318"/>
            <a:ext cx="905982" cy="905982"/>
          </a:xfrm>
          <a:custGeom>
            <a:avLst/>
            <a:gdLst/>
            <a:ahLst/>
            <a:cxnLst/>
            <a:rect l="l" t="t" r="r" b="b"/>
            <a:pathLst>
              <a:path w="905982" h="905982" fill="norm" stroke="1" extrusionOk="0">
                <a:moveTo>
                  <a:pt x="0" y="0"/>
                </a:moveTo>
                <a:lnTo>
                  <a:pt x="905982" y="0"/>
                </a:lnTo>
                <a:lnTo>
                  <a:pt x="905982" y="905982"/>
                </a:lnTo>
                <a:lnTo>
                  <a:pt x="0" y="905982"/>
                </a:lnTo>
                <a:lnTo>
                  <a:pt x="0" y="0"/>
                </a:lnTo>
                <a:close/>
              </a:path>
            </a:pathLst>
          </a:custGeom>
          <a:blipFill rotWithShape="1">
            <a:blip r:embed="rId5"/>
            <a:stretch>
              <a:fillRect l="0" t="0" r="0" b="0"/>
            </a:stretch>
          </a:blipFill>
        </p:spPr>
      </p:sp>
      <p:sp>
        <p:nvSpPr>
          <p:cNvPr id="301449736" name="TextBox 21"/>
          <p:cNvSpPr txBox="1"/>
          <p:nvPr/>
        </p:nvSpPr>
        <p:spPr bwMode="auto">
          <a:xfrm rot="0">
            <a:off x="3443425" y="4608621"/>
            <a:ext cx="8827341" cy="1048202"/>
          </a:xfrm>
          <a:prstGeom prst="rect">
            <a:avLst/>
          </a:prstGeom>
        </p:spPr>
        <p:txBody>
          <a:bodyPr lIns="0" tIns="0" rIns="0" bIns="0" rtlCol="0" anchor="t">
            <a:spAutoFit/>
          </a:bodyPr>
          <a:lstStyle/>
          <a:p>
            <a:pPr marL="0" lvl="0" indent="0" algn="r">
              <a:lnSpc>
                <a:spcPts val="4175"/>
              </a:lnSpc>
              <a:spcBef>
                <a:spcPts val="0"/>
              </a:spcBef>
              <a:defRPr/>
            </a:pPr>
            <a:r>
              <a:rPr lang="en-US" sz="3000">
                <a:solidFill>
                  <a:srgbClr val="004AAD"/>
                </a:solidFill>
                <a:latin typeface="Poppins"/>
                <a:ea typeface="Poppins"/>
                <a:cs typeface="Poppins"/>
              </a:rPr>
              <a:t>PEAS framework guided the agent design with clear performance measures.</a:t>
            </a:r>
            <a:endParaRPr/>
          </a:p>
        </p:txBody>
      </p:sp>
      <p:sp>
        <p:nvSpPr>
          <p:cNvPr id="298255670" name="TextBox 22"/>
          <p:cNvSpPr txBox="1"/>
          <p:nvPr/>
        </p:nvSpPr>
        <p:spPr bwMode="auto">
          <a:xfrm rot="0">
            <a:off x="12735231" y="3062496"/>
            <a:ext cx="1104183" cy="1104116"/>
          </a:xfrm>
          <a:prstGeom prst="rect">
            <a:avLst/>
          </a:prstGeom>
        </p:spPr>
        <p:txBody>
          <a:bodyPr lIns="0" tIns="0" rIns="0" bIns="0" rtlCol="0" anchor="t">
            <a:spAutoFit/>
          </a:bodyPr>
          <a:lstStyle/>
          <a:p>
            <a:pPr marL="0" lvl="0" indent="0" algn="ctr">
              <a:lnSpc>
                <a:spcPts val="8523"/>
              </a:lnSpc>
              <a:spcBef>
                <a:spcPts val="0"/>
              </a:spcBef>
              <a:defRPr/>
            </a:pPr>
            <a:r>
              <a:rPr lang="en-US" sz="6100" b="1">
                <a:solidFill>
                  <a:srgbClr val="FFFFFF"/>
                </a:solidFill>
                <a:latin typeface="Poppins Bold"/>
                <a:ea typeface="Poppins Bold"/>
                <a:cs typeface="Poppins Bold"/>
              </a:rPr>
              <a:t>1</a:t>
            </a:r>
            <a:endParaRPr/>
          </a:p>
        </p:txBody>
      </p:sp>
      <p:sp>
        <p:nvSpPr>
          <p:cNvPr id="1618209145" name="TextBox 23"/>
          <p:cNvSpPr txBox="1"/>
          <p:nvPr/>
        </p:nvSpPr>
        <p:spPr bwMode="auto">
          <a:xfrm rot="0">
            <a:off x="12735231" y="6073507"/>
            <a:ext cx="1104183" cy="1104116"/>
          </a:xfrm>
          <a:prstGeom prst="rect">
            <a:avLst/>
          </a:prstGeom>
        </p:spPr>
        <p:txBody>
          <a:bodyPr lIns="0" tIns="0" rIns="0" bIns="0" rtlCol="0" anchor="t">
            <a:spAutoFit/>
          </a:bodyPr>
          <a:lstStyle/>
          <a:p>
            <a:pPr marL="0" lvl="0" indent="0" algn="ctr">
              <a:lnSpc>
                <a:spcPts val="8523"/>
              </a:lnSpc>
              <a:spcBef>
                <a:spcPts val="0"/>
              </a:spcBef>
              <a:defRPr/>
            </a:pPr>
            <a:r>
              <a:rPr lang="en-US" sz="6100" b="1">
                <a:solidFill>
                  <a:srgbClr val="FFFFFF"/>
                </a:solidFill>
                <a:latin typeface="Poppins Bold"/>
                <a:ea typeface="Poppins Bold"/>
                <a:cs typeface="Poppins Bold"/>
              </a:rPr>
              <a:t>3</a:t>
            </a:r>
            <a:endParaRPr/>
          </a:p>
        </p:txBody>
      </p:sp>
      <p:sp>
        <p:nvSpPr>
          <p:cNvPr id="655175935" name="TextBox 24"/>
          <p:cNvSpPr txBox="1"/>
          <p:nvPr/>
        </p:nvSpPr>
        <p:spPr bwMode="auto">
          <a:xfrm rot="0">
            <a:off x="12735231" y="4566256"/>
            <a:ext cx="1104183" cy="1104116"/>
          </a:xfrm>
          <a:prstGeom prst="rect">
            <a:avLst/>
          </a:prstGeom>
        </p:spPr>
        <p:txBody>
          <a:bodyPr lIns="0" tIns="0" rIns="0" bIns="0" rtlCol="0" anchor="t">
            <a:spAutoFit/>
          </a:bodyPr>
          <a:lstStyle/>
          <a:p>
            <a:pPr marL="0" lvl="0" indent="0" algn="ctr">
              <a:lnSpc>
                <a:spcPts val="8523"/>
              </a:lnSpc>
              <a:spcBef>
                <a:spcPts val="0"/>
              </a:spcBef>
              <a:defRPr/>
            </a:pPr>
            <a:r>
              <a:rPr lang="en-US" sz="6100" b="1">
                <a:solidFill>
                  <a:srgbClr val="FFFFFF"/>
                </a:solidFill>
                <a:latin typeface="Poppins Bold"/>
                <a:ea typeface="Poppins Bold"/>
                <a:cs typeface="Poppins Bold"/>
              </a:rPr>
              <a:t>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2406157" name="Freeform 2"/>
          <p:cNvSpPr/>
          <p:nvPr/>
        </p:nvSpPr>
        <p:spPr bwMode="auto">
          <a:xfrm rot="0" flipH="0" flipV="0">
            <a:off x="0" y="0"/>
            <a:ext cx="18288000" cy="10287000"/>
          </a:xfrm>
          <a:custGeom>
            <a:avLst/>
            <a:gdLst/>
            <a:ahLst/>
            <a:cxnLst/>
            <a:rect l="l" t="t" r="r" b="b"/>
            <a:pathLst>
              <a:path w="18288000" h="10287000" fill="norm" stroke="1" extrusionOk="0">
                <a:moveTo>
                  <a:pt x="0" y="0"/>
                </a:moveTo>
                <a:lnTo>
                  <a:pt x="18288000" y="0"/>
                </a:lnTo>
                <a:lnTo>
                  <a:pt x="18288000" y="10287000"/>
                </a:lnTo>
                <a:lnTo>
                  <a:pt x="0" y="10287000"/>
                </a:lnTo>
                <a:lnTo>
                  <a:pt x="0" y="0"/>
                </a:lnTo>
                <a:close/>
              </a:path>
            </a:pathLst>
          </a:custGeom>
          <a:blipFill rotWithShape="1">
            <a:blip r:embed="rId3"/>
            <a:stretch>
              <a:fillRect l="0" t="-38888" r="0" b="-38888"/>
            </a:stretch>
          </a:blipFill>
        </p:spPr>
      </p:sp>
      <p:grpSp>
        <p:nvGrpSpPr>
          <p:cNvPr id="79102072" name="Group 3"/>
          <p:cNvGrpSpPr/>
          <p:nvPr/>
        </p:nvGrpSpPr>
        <p:grpSpPr bwMode="auto">
          <a:xfrm rot="0">
            <a:off x="0" y="0"/>
            <a:ext cx="3526526" cy="10287000"/>
            <a:chOff x="0" y="0"/>
            <a:chExt cx="928797" cy="2709333"/>
          </a:xfrm>
        </p:grpSpPr>
        <p:sp>
          <p:nvSpPr>
            <p:cNvPr id="4" name="Freeform 4"/>
            <p:cNvSpPr/>
            <p:nvPr/>
          </p:nvSpPr>
          <p:spPr bwMode="auto">
            <a:xfrm rot="0" flipH="0" flipV="0">
              <a:off x="0" y="0"/>
              <a:ext cx="928797" cy="2709333"/>
            </a:xfrm>
            <a:custGeom>
              <a:avLst/>
              <a:gdLst/>
              <a:ahLst/>
              <a:cxnLst/>
              <a:rect l="l" t="t" r="r" b="b"/>
              <a:pathLst>
                <a:path w="928797" h="2709333" fill="norm" stroke="1" extrusionOk="0">
                  <a:moveTo>
                    <a:pt x="0" y="0"/>
                  </a:moveTo>
                  <a:lnTo>
                    <a:pt x="928797" y="0"/>
                  </a:lnTo>
                  <a:lnTo>
                    <a:pt x="928797" y="2709333"/>
                  </a:lnTo>
                  <a:lnTo>
                    <a:pt x="0" y="2709333"/>
                  </a:lnTo>
                  <a:close/>
                </a:path>
              </a:pathLst>
            </a:custGeom>
            <a:solidFill>
              <a:srgbClr val="FFCB00"/>
            </a:solidFill>
          </p:spPr>
        </p:sp>
        <p:sp>
          <p:nvSpPr>
            <p:cNvPr id="5" name="TextBox 5"/>
            <p:cNvSpPr txBox="1"/>
            <p:nvPr/>
          </p:nvSpPr>
          <p:spPr bwMode="auto">
            <a:xfrm>
              <a:off x="0" y="-38100"/>
              <a:ext cx="928797" cy="2747433"/>
            </a:xfrm>
            <a:prstGeom prst="rect">
              <a:avLst/>
            </a:prstGeom>
            <a:grpFill/>
          </p:spPr>
          <p:txBody>
            <a:bodyPr lIns="50800" tIns="50800" rIns="50800" bIns="50800" rtlCol="0" anchor="ctr"/>
            <a:lstStyle/>
            <a:p>
              <a:pPr marL="0" lvl="0" indent="0" algn="ctr">
                <a:lnSpc>
                  <a:spcPts val="2659"/>
                </a:lnSpc>
                <a:spcBef>
                  <a:spcPts val="0"/>
                </a:spcBef>
                <a:defRPr/>
              </a:pPr>
              <a:endParaRPr/>
            </a:p>
          </p:txBody>
        </p:sp>
      </p:grpSp>
      <p:sp>
        <p:nvSpPr>
          <p:cNvPr id="612400165" name="Freeform 6"/>
          <p:cNvSpPr/>
          <p:nvPr/>
        </p:nvSpPr>
        <p:spPr bwMode="auto">
          <a:xfrm rot="0" flipH="0" flipV="0">
            <a:off x="4470962" y="8352318"/>
            <a:ext cx="905982" cy="905982"/>
          </a:xfrm>
          <a:custGeom>
            <a:avLst/>
            <a:gdLst/>
            <a:ahLst/>
            <a:cxnLst/>
            <a:rect l="l" t="t" r="r" b="b"/>
            <a:pathLst>
              <a:path w="905982" h="905982" fill="norm" stroke="1" extrusionOk="0">
                <a:moveTo>
                  <a:pt x="0" y="0"/>
                </a:moveTo>
                <a:lnTo>
                  <a:pt x="905982" y="0"/>
                </a:lnTo>
                <a:lnTo>
                  <a:pt x="905982" y="905982"/>
                </a:lnTo>
                <a:lnTo>
                  <a:pt x="0" y="905982"/>
                </a:lnTo>
                <a:lnTo>
                  <a:pt x="0" y="0"/>
                </a:lnTo>
                <a:close/>
              </a:path>
            </a:pathLst>
          </a:custGeom>
          <a:blipFill rotWithShape="1">
            <a:blip r:embed="rId4"/>
            <a:stretch>
              <a:fillRect l="0" t="0" r="0" b="0"/>
            </a:stretch>
          </a:blipFill>
        </p:spPr>
      </p:sp>
      <p:sp>
        <p:nvSpPr>
          <p:cNvPr id="1533652706" name="Freeform 7"/>
          <p:cNvSpPr/>
          <p:nvPr/>
        </p:nvSpPr>
        <p:spPr bwMode="auto">
          <a:xfrm rot="0" flipH="0" flipV="0">
            <a:off x="11848781" y="2925043"/>
            <a:ext cx="5108906" cy="5135173"/>
          </a:xfrm>
          <a:custGeom>
            <a:avLst/>
            <a:gdLst/>
            <a:ahLst/>
            <a:cxnLst/>
            <a:rect l="l" t="t" r="r" b="b"/>
            <a:pathLst>
              <a:path w="5108906" h="5135173" fill="norm" stroke="1" extrusionOk="0">
                <a:moveTo>
                  <a:pt x="0" y="0"/>
                </a:moveTo>
                <a:lnTo>
                  <a:pt x="5108906" y="0"/>
                </a:lnTo>
                <a:lnTo>
                  <a:pt x="5108906" y="5135173"/>
                </a:lnTo>
                <a:lnTo>
                  <a:pt x="0" y="5135173"/>
                </a:lnTo>
                <a:lnTo>
                  <a:pt x="0" y="0"/>
                </a:lnTo>
                <a:close/>
              </a:path>
            </a:pathLst>
          </a:custGeom>
          <a:blipFill rotWithShape="1">
            <a:blip r:embed="rId5"/>
            <a:stretch>
              <a:fillRect l="0" t="0" r="0" b="0"/>
            </a:stretch>
          </a:blipFill>
        </p:spPr>
      </p:sp>
      <p:sp>
        <p:nvSpPr>
          <p:cNvPr id="144119118" name="TextBox 8"/>
          <p:cNvSpPr txBox="1"/>
          <p:nvPr/>
        </p:nvSpPr>
        <p:spPr bwMode="auto">
          <a:xfrm rot="0">
            <a:off x="4470962" y="1748631"/>
            <a:ext cx="3349600" cy="817245"/>
          </a:xfrm>
          <a:prstGeom prst="rect">
            <a:avLst/>
          </a:prstGeom>
        </p:spPr>
        <p:txBody>
          <a:bodyPr lIns="0" tIns="0" rIns="0" bIns="0" rtlCol="0" anchor="t">
            <a:spAutoFit/>
          </a:bodyPr>
          <a:lstStyle/>
          <a:p>
            <a:pPr marL="0" lvl="0" indent="0" algn="l">
              <a:lnSpc>
                <a:spcPts val="6405"/>
              </a:lnSpc>
              <a:spcBef>
                <a:spcPts val="0"/>
              </a:spcBef>
              <a:defRPr/>
            </a:pPr>
            <a:r>
              <a:rPr lang="en-US" sz="4600" b="1">
                <a:solidFill>
                  <a:srgbClr val="004AAD"/>
                </a:solidFill>
                <a:latin typeface="Poppins Bold"/>
                <a:ea typeface="Poppins Bold"/>
                <a:cs typeface="Poppins Bold"/>
              </a:rPr>
              <a:t>Questions?</a:t>
            </a:r>
            <a:endParaRPr/>
          </a:p>
        </p:txBody>
      </p:sp>
      <p:sp>
        <p:nvSpPr>
          <p:cNvPr id="544760134" name="TextBox 9"/>
          <p:cNvSpPr txBox="1"/>
          <p:nvPr/>
        </p:nvSpPr>
        <p:spPr bwMode="auto">
          <a:xfrm rot="-5400000">
            <a:off x="-2143473" y="4323928"/>
            <a:ext cx="7576425" cy="1803580"/>
          </a:xfrm>
          <a:prstGeom prst="rect">
            <a:avLst/>
          </a:prstGeom>
        </p:spPr>
        <p:txBody>
          <a:bodyPr lIns="0" tIns="0" rIns="0" bIns="0" rtlCol="0" anchor="t">
            <a:spAutoFit/>
          </a:bodyPr>
          <a:lstStyle/>
          <a:p>
            <a:pPr marL="0" lvl="0" indent="0" algn="ctr">
              <a:lnSpc>
                <a:spcPts val="13990"/>
              </a:lnSpc>
              <a:spcBef>
                <a:spcPts val="0"/>
              </a:spcBef>
              <a:defRPr/>
            </a:pPr>
            <a:r>
              <a:rPr lang="en-US" sz="10000" b="1">
                <a:solidFill>
                  <a:srgbClr val="004AAD"/>
                </a:solidFill>
                <a:latin typeface="Poppins Bold"/>
                <a:ea typeface="Poppins Bold"/>
                <a:cs typeface="Poppins Bold"/>
              </a:rPr>
              <a:t>Thank You</a:t>
            </a:r>
            <a:endParaRPr/>
          </a:p>
        </p:txBody>
      </p:sp>
      <p:sp>
        <p:nvSpPr>
          <p:cNvPr id="285045485" name="TextBox 10"/>
          <p:cNvSpPr txBox="1"/>
          <p:nvPr/>
        </p:nvSpPr>
        <p:spPr bwMode="auto">
          <a:xfrm rot="0">
            <a:off x="4470962" y="3000375"/>
            <a:ext cx="6699200" cy="2143125"/>
          </a:xfrm>
          <a:prstGeom prst="rect">
            <a:avLst/>
          </a:prstGeom>
        </p:spPr>
        <p:txBody>
          <a:bodyPr lIns="0" tIns="0" rIns="0" bIns="0" rtlCol="0" anchor="t">
            <a:spAutoFit/>
          </a:bodyPr>
          <a:lstStyle/>
          <a:p>
            <a:pPr marL="0" lvl="0" indent="0" algn="l">
              <a:lnSpc>
                <a:spcPts val="4200"/>
              </a:lnSpc>
              <a:spcBef>
                <a:spcPts val="0"/>
              </a:spcBef>
              <a:defRPr/>
            </a:pPr>
            <a:r>
              <a:rPr lang="en-US" sz="3000">
                <a:solidFill>
                  <a:srgbClr val="004AAD"/>
                </a:solidFill>
                <a:latin typeface="Poppins"/>
                <a:ea typeface="Poppins"/>
                <a:cs typeface="Poppins"/>
              </a:rPr>
              <a:t>Thank you for your attention.</a:t>
            </a:r>
            <a:endParaRPr/>
          </a:p>
          <a:p>
            <a:pPr marL="0" lvl="0" indent="0" algn="l">
              <a:lnSpc>
                <a:spcPts val="4200"/>
              </a:lnSpc>
              <a:spcBef>
                <a:spcPts val="0"/>
              </a:spcBef>
              <a:defRPr/>
            </a:pPr>
            <a:r>
              <a:rPr lang="en-US" sz="3000">
                <a:solidFill>
                  <a:srgbClr val="004AAD"/>
                </a:solidFill>
                <a:latin typeface="Poppins"/>
                <a:ea typeface="Poppins"/>
                <a:cs typeface="Poppins"/>
              </a:rPr>
              <a:t>We welcome any questions or discussion about the x-O Project and our AI agent design.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11</Slides>
  <Notes>11</Notes>
  <HiddenSlides>0</HiddenSlides>
  <MMClips>2</MMClips>
  <ScaleCrop>0</ScaleCrop>
  <HeadingPairs>
    <vt:vector size="4" baseType="variant">
      <vt:variant>
        <vt:lpstr>Theme</vt:lpstr>
      </vt:variant>
      <vt:variant>
        <vt:i4>1</vt:i4>
      </vt:variant>
      <vt:variant>
        <vt:lpstr>Slide Titles</vt:lpstr>
      </vt:variant>
      <vt:variant>
        <vt:i4>11</vt:i4>
      </vt:variant>
    </vt:vector>
  </HeadingPairs>
  <TitlesOfParts>
    <vt:vector size="12"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x-O Tic-Tac-Toe AI Overview
</dc:title>
  <dc:identifier>DAHG3fo1Ezc</dc:identifier>
  <cp:lastModifiedBy/>
  <cp:revision>2</cp:revision>
  <dcterms:created xsi:type="dcterms:W3CDTF">2006-08-16T00:00:00Z</dcterms:created>
  <dcterms:modified xsi:type="dcterms:W3CDTF">2026-04-14T21:32:45Z</dcterms:modified>
</cp:coreProperties>
</file>